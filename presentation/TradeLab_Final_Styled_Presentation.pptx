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mahavar28@gmail.com" userId="38b9160e7b5616d0" providerId="LiveId" clId="{C87C1BCB-5F7F-478E-8D3B-D305863B02FF}"/>
    <pc:docChg chg="modSld">
      <pc:chgData name="harshmahavar28@gmail.com" userId="38b9160e7b5616d0" providerId="LiveId" clId="{C87C1BCB-5F7F-478E-8D3B-D305863B02FF}" dt="2026-09-28T15:33:27.601" v="1" actId="1035"/>
      <pc:docMkLst>
        <pc:docMk/>
      </pc:docMkLst>
      <pc:sldChg chg="modSp mod">
        <pc:chgData name="harshmahavar28@gmail.com" userId="38b9160e7b5616d0" providerId="LiveId" clId="{C87C1BCB-5F7F-478E-8D3B-D305863B02FF}" dt="2026-09-28T15:33:27.601" v="1" actId="1035"/>
        <pc:sldMkLst>
          <pc:docMk/>
          <pc:sldMk cId="0" sldId="256"/>
        </pc:sldMkLst>
        <pc:spChg chg="mod">
          <ac:chgData name="harshmahavar28@gmail.com" userId="38b9160e7b5616d0" providerId="LiveId" clId="{C87C1BCB-5F7F-478E-8D3B-D305863B02FF}" dt="2026-09-28T15:33:27.601" v="1" actId="1035"/>
          <ac:spMkLst>
            <pc:docMk/>
            <pc:sldMk cId="0" sldId="256"/>
            <ac:spMk id="1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005840"/>
            <a:ext cx="58521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005840"/>
            <a:ext cx="50292" cy="448056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17320"/>
            <a:ext cx="5303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0C2B49"/>
                </a:solidFill>
                <a:latin typeface="Aptos"/>
              </a:defRPr>
            </a:pPr>
            <a:r>
              <a:rPr dirty="0" err="1"/>
              <a:t>TradeLab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50976" y="2121408"/>
            <a:ext cx="5166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C7AC4"/>
                </a:solidFill>
                <a:latin typeface="Aptos"/>
              </a:defRPr>
            </a:pPr>
            <a:r>
              <a:rPr dirty="0"/>
              <a:t>Virtual Stock Market Trading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50749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3C50"/>
                </a:solidFill>
                <a:latin typeface="Aptos"/>
              </a:defRPr>
            </a:pPr>
            <a:r>
              <a:rPr dirty="0"/>
              <a:t>A full-stack web application for practicing stock trading using virtual money — without real financial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160520"/>
            <a:ext cx="1600200" cy="329184"/>
          </a:xfrm>
          <a:prstGeom prst="round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169663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REACT + NODE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4912" y="4160520"/>
            <a:ext cx="1417320" cy="329184"/>
          </a:xfrm>
          <a:prstGeom prst="round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24912" y="4169663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0C2B49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4160520"/>
            <a:ext cx="1463040" cy="329184"/>
          </a:xfrm>
          <a:prstGeom prst="round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5112" y="4169663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0C2B49"/>
                </a:solidFill>
                <a:latin typeface="Aptos"/>
              </a:defRPr>
            </a:pPr>
            <a:r>
              <a:t>UPSTOX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00600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556F84"/>
                </a:solidFill>
                <a:latin typeface="Aptos"/>
              </a:defRPr>
            </a:pPr>
            <a:r>
              <a:t>SEMESTER PROJECT  •  FULL STACK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194496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556F84"/>
                </a:solidFill>
                <a:latin typeface="Aptos"/>
              </a:defRPr>
            </a:pPr>
            <a:r>
              <a:t>Name  |  Roll No.  |  Department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42B41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86968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Why a safe and integrated trading simulator is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20040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50292" cy="3520440"/>
          </a:xfrm>
          <a:prstGeom prst="rect">
            <a:avLst/>
          </a:prstGeom>
          <a:solidFill>
            <a:srgbClr val="DA4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618488"/>
            <a:ext cx="2880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01  FINANCIAL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84248"/>
            <a:ext cx="2880360" cy="2953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56F84"/>
                </a:solidFill>
                <a:latin typeface="Aptos"/>
              </a:defRPr>
            </a:pPr>
            <a:r>
              <a:t>Real trading requires capital and mistakes can cause actual losses.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508760"/>
            <a:ext cx="320040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69080" y="1508760"/>
            <a:ext cx="50292" cy="3520440"/>
          </a:xfrm>
          <a:prstGeom prst="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33672" y="1618488"/>
            <a:ext cx="2880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02  LIMITED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1984248"/>
            <a:ext cx="2880360" cy="2953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56F84"/>
                </a:solidFill>
                <a:latin typeface="Aptos"/>
              </a:defRPr>
            </a:pPr>
            <a:r>
              <a:t>Theory explains concepts, but practical order and portfolio experience is different.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508760"/>
            <a:ext cx="320040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52360" y="1508760"/>
            <a:ext cx="50292" cy="352044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16952" y="1618488"/>
            <a:ext cx="2880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03  DISCONNECTED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984248"/>
            <a:ext cx="2880360" cy="2953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56F84"/>
                </a:solidFill>
                <a:latin typeface="Aptos"/>
              </a:defRPr>
            </a:pPr>
            <a:r>
              <a:t>Market data, charts, trades and performance are often experienced separately.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49240"/>
            <a:ext cx="1028700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5349240"/>
            <a:ext cx="50292" cy="685800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468112"/>
            <a:ext cx="9921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C2B49"/>
                </a:solidFill>
                <a:latin typeface="Aptos"/>
              </a:defRPr>
            </a:pPr>
            <a:r>
              <a:t>Need → a safe, interactive and realistic environment for practicing the complete trading workflow.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42B41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86968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TradeLab brings market data, simulation and portfolio management into one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828800"/>
            <a:ext cx="452628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94760" y="1828800"/>
            <a:ext cx="50292" cy="224028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9352" y="1938528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42B41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9352" y="2304288"/>
            <a:ext cx="4206240" cy="1673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56F84"/>
                </a:solidFill>
                <a:latin typeface="Aptos"/>
              </a:defRPr>
            </a:pPr>
            <a:r>
              <a:t>Users receive virtual capital, access market data, simulate orders, manage holdings and evaluate performance.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554480"/>
            <a:ext cx="265176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1554480"/>
            <a:ext cx="50292" cy="1280160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1664207"/>
            <a:ext cx="2331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MARKET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029967"/>
            <a:ext cx="2331720" cy="7132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Indices • quotes • charts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97680"/>
            <a:ext cx="265176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297680"/>
            <a:ext cx="50292" cy="1280160"/>
          </a:xfrm>
          <a:prstGeom prst="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4407408"/>
            <a:ext cx="2331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VIRTUAL CAPITAL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773168"/>
            <a:ext cx="2331720" cy="7132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Wallet • balance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554480"/>
            <a:ext cx="265176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23960" y="1554480"/>
            <a:ext cx="50292" cy="1280160"/>
          </a:xfrm>
          <a:prstGeom prst="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88552" y="1664207"/>
            <a:ext cx="2331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SIMULATED TRADING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2029967"/>
            <a:ext cx="2331720" cy="7132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Buy • sell •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4297680"/>
            <a:ext cx="265176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23960" y="4297680"/>
            <a:ext cx="50292" cy="128016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88552" y="4407408"/>
            <a:ext cx="2331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4773168"/>
            <a:ext cx="2331720" cy="7132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Portfolio • P&amp;L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37560" y="2148840"/>
            <a:ext cx="411479" cy="274320"/>
          </a:xfrm>
          <a:prstGeom prst="line">
            <a:avLst/>
          </a:prstGeom>
          <a:ln w="25400">
            <a:solidFill>
              <a:srgbClr val="00A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337560" y="3474720"/>
            <a:ext cx="411479" cy="1417320"/>
          </a:xfrm>
          <a:prstGeom prst="line">
            <a:avLst/>
          </a:prstGeom>
          <a:ln w="25400">
            <a:solidFill>
              <a:srgbClr val="0DA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321040" y="2148840"/>
            <a:ext cx="502920" cy="274320"/>
          </a:xfrm>
          <a:prstGeom prst="line">
            <a:avLst/>
          </a:prstGeom>
          <a:ln w="25400">
            <a:solidFill>
              <a:srgbClr val="CF8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21040" y="3474720"/>
            <a:ext cx="502920" cy="1417320"/>
          </a:xfrm>
          <a:prstGeom prst="line">
            <a:avLst/>
          </a:prstGeom>
          <a:ln w="25400">
            <a:solidFill>
              <a:srgbClr val="1C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343400" y="4846320"/>
            <a:ext cx="3429000" cy="329184"/>
          </a:xfrm>
          <a:prstGeom prst="roundRect">
            <a:avLst/>
          </a:prstGeom>
          <a:solidFill>
            <a:srgbClr val="DA4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43400" y="4855464"/>
            <a:ext cx="3429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NO REAL FINANCIAL TRANSACTIONS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42B41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86968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What TradeLab is designed to achieve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3756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50292" cy="1627632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52704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RISK-FREE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92808"/>
            <a:ext cx="3017520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Practice trading without risking real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417320"/>
            <a:ext cx="333756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53128" y="1417320"/>
            <a:ext cx="50292" cy="1627632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52704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REALISTIC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92808"/>
            <a:ext cx="3017520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Use market data, charts and familiar trading concepts.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1417320"/>
            <a:ext cx="333756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0456" y="1417320"/>
            <a:ext cx="50292" cy="1627632"/>
          </a:xfrm>
          <a:prstGeom prst="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152704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PORTFOLIO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892808"/>
            <a:ext cx="3017520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Track holdings, wallet and portfolio value.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66160"/>
            <a:ext cx="333756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566160"/>
            <a:ext cx="50292" cy="1627632"/>
          </a:xfrm>
          <a:prstGeom prst="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367588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P&amp;L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041648"/>
            <a:ext cx="3017520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Calculate realized and unrealized performance.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3128" y="3566160"/>
            <a:ext cx="333756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53128" y="3566160"/>
            <a:ext cx="50292" cy="1627632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367588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FULL-STACK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041648"/>
            <a:ext cx="3017520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Integrate frontend, APIs, backend and database.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0456" y="3566160"/>
            <a:ext cx="333756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0456" y="3566160"/>
            <a:ext cx="50292" cy="1627632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85048" y="367588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SCALABLE FOUNDATION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4041648"/>
            <a:ext cx="3017520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Enable future analytics and competitions.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42B41"/>
                </a:solidFill>
                <a:latin typeface="Aptos"/>
              </a:defRPr>
            </a:pPr>
            <a:r>
              <a:t>Software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86968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Technology stack used by the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50292" cy="114300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527048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42B41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92808"/>
            <a:ext cx="48463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React.js • React Router • HTML • CSS • JavaScript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0292" cy="1143000"/>
          </a:xfrm>
          <a:prstGeom prst="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1" y="1527048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42B41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892808"/>
            <a:ext cx="48463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Node.js • Express.js • REST APIs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3464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834640"/>
            <a:ext cx="50292" cy="1143000"/>
          </a:xfrm>
          <a:prstGeom prst="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2944368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42B41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310128"/>
            <a:ext cx="48463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83464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834640"/>
            <a:ext cx="50292" cy="1143000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1" y="2944368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42B41"/>
                </a:solidFill>
                <a:latin typeface="Aptos"/>
              </a:defRPr>
            </a:pPr>
            <a:r>
              <a:t>MARKET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3310128"/>
            <a:ext cx="48463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Upstox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5196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4251960"/>
            <a:ext cx="50292" cy="1143000"/>
          </a:xfrm>
          <a:prstGeom prst="rect">
            <a:avLst/>
          </a:prstGeom>
          <a:solidFill>
            <a:srgbClr val="DA4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4361688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42B41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727448"/>
            <a:ext cx="48463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JWT • password hashing • protected routes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25196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4251960"/>
            <a:ext cx="50292" cy="114300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1" y="4361688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42B41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1" y="4727448"/>
            <a:ext cx="48463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VS Code • Git / GitHub • modern browser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42B41"/>
                </a:solidFill>
                <a:latin typeface="Aptos"/>
              </a:defRPr>
            </a:pPr>
            <a:r>
              <a:t>Hardware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86968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No specialized hardware is 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50749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50292" cy="416052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618488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42B41"/>
                </a:solidFill>
                <a:latin typeface="Aptos"/>
              </a:defRPr>
            </a:pPr>
            <a:r>
              <a:t>DEVELOPMENT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84248"/>
            <a:ext cx="4754880" cy="35935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56F84"/>
                </a:solidFill>
                <a:latin typeface="Aptos"/>
              </a:defRPr>
            </a:pPr>
            <a:r>
              <a:t>• Intel i3 / equivalent processor</a:t>
            </a:r>
            <a:br/>
            <a:r>
              <a:t>• 8 GB RAM or higher</a:t>
            </a:r>
            <a:br/>
            <a:r>
              <a:t>• 10 GB+ available storage</a:t>
            </a:r>
            <a:br/>
            <a:r>
              <a:t>• Stable internet connection</a:t>
            </a:r>
            <a:br/>
            <a:r>
              <a:t>• 1366 × 768 display or higher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50749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50292" cy="4160520"/>
          </a:xfrm>
          <a:prstGeom prst="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1618488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42B41"/>
                </a:solidFill>
                <a:latin typeface="Aptos"/>
              </a:defRPr>
            </a:pPr>
            <a:r>
              <a:t>END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984248"/>
            <a:ext cx="4754880" cy="35935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56F84"/>
                </a:solidFill>
                <a:latin typeface="Aptos"/>
              </a:defRPr>
            </a:pPr>
            <a:r>
              <a:t>• Laptop or desktop computer</a:t>
            </a:r>
            <a:br/>
            <a:r>
              <a:t>• Modern web browser</a:t>
            </a:r>
            <a:br/>
            <a:r>
              <a:t>• Stable internet connection</a:t>
            </a:r>
            <a:br/>
            <a:r>
              <a:t>• No dedicated GPU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5870448"/>
            <a:ext cx="3749039" cy="329184"/>
          </a:xfrm>
          <a:prstGeom prst="round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60520" y="5879592"/>
            <a:ext cx="37490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0C2B49"/>
                </a:solidFill>
                <a:latin typeface="Aptos"/>
              </a:defRPr>
            </a:pPr>
            <a:r>
              <a:t>BROWSER-BASED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42B41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86968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Client–server architecture with database and external market-data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2011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50292" cy="132588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441448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807208"/>
            <a:ext cx="169164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Browser / trader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331720"/>
            <a:ext cx="2194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80360" y="2331720"/>
            <a:ext cx="50292" cy="1325880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44952" y="2441448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REACT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807208"/>
            <a:ext cx="1874519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Pages • components</a:t>
            </a:r>
            <a:br/>
            <a:r>
              <a:t>Routing •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2331720"/>
            <a:ext cx="24231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40680" y="2331720"/>
            <a:ext cx="50292" cy="1325880"/>
          </a:xfrm>
          <a:prstGeom prst="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05272" y="244144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NODE + EXPRESS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2807208"/>
            <a:ext cx="210312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REST API</a:t>
            </a:r>
            <a:br/>
            <a:r>
              <a:t>Business logic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234440"/>
            <a:ext cx="28346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75320" y="1234440"/>
            <a:ext cx="50292" cy="1417320"/>
          </a:xfrm>
          <a:prstGeom prst="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9912" y="1344168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1709928"/>
            <a:ext cx="251460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Users • portfolios</a:t>
            </a:r>
            <a:br/>
            <a:r>
              <a:t>orders •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794760"/>
            <a:ext cx="28346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75320" y="3794760"/>
            <a:ext cx="50292" cy="141732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39912" y="3904488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UPSTOX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4270248"/>
            <a:ext cx="251460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Market quotes</a:t>
            </a:r>
            <a:br/>
            <a:r>
              <a:t>historical data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60320" y="2971800"/>
            <a:ext cx="320040" cy="0"/>
          </a:xfrm>
          <a:prstGeom prst="line">
            <a:avLst/>
          </a:prstGeom>
          <a:ln w="25400">
            <a:solidFill>
              <a:srgbClr val="1C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74920" y="2971800"/>
            <a:ext cx="365760" cy="0"/>
          </a:xfrm>
          <a:prstGeom prst="line">
            <a:avLst/>
          </a:prstGeom>
          <a:ln w="25400">
            <a:solidFill>
              <a:srgbClr val="1C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863840" y="1965960"/>
            <a:ext cx="411480" cy="548640"/>
          </a:xfrm>
          <a:prstGeom prst="line">
            <a:avLst/>
          </a:prstGeom>
          <a:ln w="25400">
            <a:solidFill>
              <a:srgbClr val="CF8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474720"/>
            <a:ext cx="411480" cy="1005840"/>
          </a:xfrm>
          <a:prstGeom prst="line">
            <a:avLst/>
          </a:prstGeom>
          <a:ln w="25400">
            <a:solidFill>
              <a:srgbClr val="1C7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440680" y="5349240"/>
            <a:ext cx="2423160" cy="329184"/>
          </a:xfrm>
          <a:prstGeom prst="round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40680" y="5358383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0C2B49"/>
                </a:solidFill>
                <a:latin typeface="Aptos"/>
              </a:defRPr>
            </a:pPr>
            <a:r>
              <a:t>REST / 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42B41"/>
                </a:solidFill>
                <a:latin typeface="Aptos"/>
              </a:defRPr>
            </a:pPr>
            <a:r>
              <a:t>Functional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86968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Major capabilities of the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333756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50292" cy="1481328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57276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38528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Registration • Login • JWT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463040"/>
            <a:ext cx="333756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53128" y="1463040"/>
            <a:ext cx="50292" cy="148132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57276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MARKET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938528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Indices • Search • Stock details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1463040"/>
            <a:ext cx="333756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0456" y="1463040"/>
            <a:ext cx="50292" cy="1481328"/>
          </a:xfrm>
          <a:prstGeom prst="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157276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TRADING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938528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Buy / Sell •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29000"/>
            <a:ext cx="333756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429000"/>
            <a:ext cx="50292" cy="1481328"/>
          </a:xfrm>
          <a:prstGeom prst="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353872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904487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Holdings • Wallet • P&amp;L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3128" y="3429000"/>
            <a:ext cx="333756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53128" y="3429000"/>
            <a:ext cx="50292" cy="1481328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353872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904487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Orders • Transactions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0456" y="3429000"/>
            <a:ext cx="333756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0456" y="3429000"/>
            <a:ext cx="50292" cy="148132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85048" y="353872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3904487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Watchlist • Performance • Journal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955279" y="-731520"/>
            <a:ext cx="5029200" cy="3749039"/>
          </a:xfrm>
          <a:prstGeom prst="ellipse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297680"/>
            <a:ext cx="3840480" cy="2743200"/>
          </a:xfrm>
          <a:prstGeom prst="ellipse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212080"/>
            <a:ext cx="3657600" cy="2103120"/>
          </a:xfrm>
          <a:prstGeom prst="ellipse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1480" y="1325880"/>
            <a:ext cx="11384280" cy="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1480" y="2331720"/>
            <a:ext cx="11384280" cy="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1480" y="3337560"/>
            <a:ext cx="11384280" cy="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1480" y="4343400"/>
            <a:ext cx="11384280" cy="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1480" y="5349240"/>
            <a:ext cx="11384280" cy="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11480" y="6355080"/>
            <a:ext cx="11384280" cy="0"/>
          </a:xfrm>
          <a:prstGeom prst="line">
            <a:avLst/>
          </a:prstGeom>
          <a:ln w="6350">
            <a:solidFill>
              <a:srgbClr val="1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6F8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42B41"/>
                </a:solidFill>
                <a:latin typeface="Aptos"/>
              </a:defRPr>
            </a:pPr>
            <a:r>
              <a:t>Database / Data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Conceptual MongoDB entities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417320"/>
            <a:ext cx="2331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1417320"/>
            <a:ext cx="50292" cy="123444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1" y="1527048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1892808"/>
            <a:ext cx="2011679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userId • email • password</a:t>
            </a:r>
            <a:br/>
            <a:r>
              <a:t>virtualBalance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1417320"/>
            <a:ext cx="2331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429000" y="1417320"/>
            <a:ext cx="50292" cy="1234440"/>
          </a:xfrm>
          <a:prstGeom prst="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93592" y="1527048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3592" y="1892808"/>
            <a:ext cx="2011679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userId • holdings</a:t>
            </a:r>
            <a:br/>
            <a:r>
              <a:t>averagePrice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417320"/>
            <a:ext cx="2331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1417320"/>
            <a:ext cx="50292" cy="1234440"/>
          </a:xfrm>
          <a:prstGeom prst="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82512" y="1527048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1892808"/>
            <a:ext cx="2011679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orderId • symbol</a:t>
            </a:r>
            <a:br/>
            <a:r>
              <a:t>quantity • status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06840" y="1417320"/>
            <a:ext cx="2331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06840" y="1417320"/>
            <a:ext cx="50292" cy="1234440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71432" y="1527048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WATCHLIST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1432" y="1892808"/>
            <a:ext cx="2011679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userId • symbols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11680" y="3703320"/>
            <a:ext cx="2331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011680" y="3703320"/>
            <a:ext cx="50292" cy="1234440"/>
          </a:xfrm>
          <a:prstGeom prst="rect">
            <a:avLst/>
          </a:prstGeom>
          <a:solidFill>
            <a:srgbClr val="DA4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76272" y="3813048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TRANSACTION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76272" y="4178808"/>
            <a:ext cx="2011679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transactionId • userId</a:t>
            </a:r>
            <a:br/>
            <a:r>
              <a:t>symbol • type • price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3703320"/>
            <a:ext cx="2331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43600" y="3703320"/>
            <a:ext cx="50292" cy="123444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08192" y="3813048"/>
            <a:ext cx="2011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JOURNAL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08192" y="4178808"/>
            <a:ext cx="2011679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tradeId • reasoning</a:t>
            </a:r>
            <a:br/>
            <a:r>
              <a:t>notes • timestamp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715000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556F84"/>
                </a:solidFill>
                <a:latin typeface="Aptos"/>
              </a:defRPr>
            </a:pPr>
            <a:r>
              <a:t>User identity acts as the ownership boundary for private trading data.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42B41"/>
                </a:solidFill>
                <a:latin typeface="Aptos"/>
              </a:defRPr>
            </a:pPr>
            <a:r>
              <a:t>Simulated Trading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86968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From stock selection to portfolio update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19659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50292" cy="1170432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618488"/>
            <a:ext cx="16459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01  Select stock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093976"/>
            <a:ext cx="301752" cy="0"/>
          </a:xfrm>
          <a:prstGeom prst="line">
            <a:avLst/>
          </a:prstGeom>
          <a:ln w="25400">
            <a:solidFill>
              <a:srgbClr val="55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98648" y="1508760"/>
            <a:ext cx="19659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98648" y="1508760"/>
            <a:ext cx="50292" cy="1170432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1618488"/>
            <a:ext cx="16459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02  Buy / Sell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64608" y="2093976"/>
            <a:ext cx="301752" cy="0"/>
          </a:xfrm>
          <a:prstGeom prst="line">
            <a:avLst/>
          </a:prstGeom>
          <a:ln w="25400">
            <a:solidFill>
              <a:srgbClr val="55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02936" y="1508760"/>
            <a:ext cx="19659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02936" y="1508760"/>
            <a:ext cx="50292" cy="1170432"/>
          </a:xfrm>
          <a:prstGeom prst="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67528" y="1618488"/>
            <a:ext cx="16459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03  Enter quantity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68896" y="2093976"/>
            <a:ext cx="301752" cy="0"/>
          </a:xfrm>
          <a:prstGeom prst="line">
            <a:avLst/>
          </a:prstGeom>
          <a:ln w="25400">
            <a:solidFill>
              <a:srgbClr val="55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07224" y="1508760"/>
            <a:ext cx="19659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07224" y="1508760"/>
            <a:ext cx="50292" cy="1170432"/>
          </a:xfrm>
          <a:prstGeom prst="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71816" y="1618488"/>
            <a:ext cx="16459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04  Validate order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73184" y="2093976"/>
            <a:ext cx="301752" cy="0"/>
          </a:xfrm>
          <a:prstGeom prst="line">
            <a:avLst/>
          </a:prstGeom>
          <a:ln w="25400">
            <a:solidFill>
              <a:srgbClr val="55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11512" y="1508760"/>
            <a:ext cx="19659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11512" y="1508760"/>
            <a:ext cx="50292" cy="1170432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76104" y="1618488"/>
            <a:ext cx="16459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05  Execute simulation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799064" y="2679191"/>
            <a:ext cx="0" cy="384048"/>
          </a:xfrm>
          <a:prstGeom prst="line">
            <a:avLst/>
          </a:prstGeom>
          <a:ln w="25400">
            <a:solidFill>
              <a:srgbClr val="55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4360" y="3657600"/>
            <a:ext cx="19659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360" y="3657600"/>
            <a:ext cx="50292" cy="1170432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3767328"/>
            <a:ext cx="16459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06  Update wallet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60320" y="4242816"/>
            <a:ext cx="301752" cy="0"/>
          </a:xfrm>
          <a:prstGeom prst="line">
            <a:avLst/>
          </a:prstGeom>
          <a:ln w="25400">
            <a:solidFill>
              <a:srgbClr val="55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898648" y="3657600"/>
            <a:ext cx="19659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98648" y="3657600"/>
            <a:ext cx="50292" cy="1170432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63240" y="3767328"/>
            <a:ext cx="16459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07  Update portfolio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864608" y="4242816"/>
            <a:ext cx="301752" cy="0"/>
          </a:xfrm>
          <a:prstGeom prst="line">
            <a:avLst/>
          </a:prstGeom>
          <a:ln w="25400">
            <a:solidFill>
              <a:srgbClr val="55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202936" y="3657600"/>
            <a:ext cx="19659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202936" y="3657600"/>
            <a:ext cx="50292" cy="1170432"/>
          </a:xfrm>
          <a:prstGeom prst="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67528" y="3767328"/>
            <a:ext cx="16459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08  Record transaction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68896" y="4242816"/>
            <a:ext cx="301752" cy="0"/>
          </a:xfrm>
          <a:prstGeom prst="line">
            <a:avLst/>
          </a:prstGeom>
          <a:ln w="25400">
            <a:solidFill>
              <a:srgbClr val="55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507224" y="3657600"/>
            <a:ext cx="19659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507224" y="3657600"/>
            <a:ext cx="50292" cy="1170432"/>
          </a:xfrm>
          <a:prstGeom prst="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71816" y="3767328"/>
            <a:ext cx="16459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09  Recalculate P&amp;L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DA474D"/>
                </a:solidFill>
                <a:latin typeface="Aptos"/>
              </a:defRPr>
            </a:pPr>
            <a:r>
              <a:t>Every step is simulated; validation protects wallet and portfolio consistency.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42B41"/>
                </a:solidFill>
                <a:latin typeface="Aptos"/>
              </a:defRPr>
            </a:pPr>
            <a:r>
              <a:t>Application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86968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Recommended demo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0292" cy="150876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2704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892808"/>
            <a:ext cx="2103120" cy="941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Screenshot / UI placeholder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41732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417320"/>
            <a:ext cx="50292" cy="1508760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9312" y="152704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92808"/>
            <a:ext cx="2103120" cy="941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Screenshot / UI placeholder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41732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417320"/>
            <a:ext cx="50292" cy="1508760"/>
          </a:xfrm>
          <a:prstGeom prst="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152704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STOCK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892808"/>
            <a:ext cx="2103120" cy="941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Screenshot / UI placeholder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41732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0" y="1417320"/>
            <a:ext cx="50292" cy="1508760"/>
          </a:xfrm>
          <a:prstGeom prst="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08592" y="152704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TRADE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1892808"/>
            <a:ext cx="2103120" cy="941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Screenshot / UI placeholder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7472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474720"/>
            <a:ext cx="50292" cy="150876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1" y="358444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3950208"/>
            <a:ext cx="2103120" cy="941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Screenshot / UI placeholder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347472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74720" y="3474720"/>
            <a:ext cx="50292" cy="1508760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39312" y="358444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WATCHLIST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9312" y="3950208"/>
            <a:ext cx="2103120" cy="941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Screenshot / UI placeholder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47472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3474720"/>
            <a:ext cx="50292" cy="1508760"/>
          </a:xfrm>
          <a:prstGeom prst="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358444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ORDER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950208"/>
            <a:ext cx="2103120" cy="941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Screenshot / UI placeholder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47472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0" y="3474720"/>
            <a:ext cx="50292" cy="1508760"/>
          </a:xfrm>
          <a:prstGeom prst="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08592" y="358444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3950208"/>
            <a:ext cx="2103120" cy="941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Screenshot / UI placeholder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76072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C2B49"/>
                </a:solidFill>
                <a:latin typeface="Aptos"/>
              </a:defRPr>
            </a:pPr>
            <a:r>
              <a:t>Replace these placeholders with screenshots from your actual TradeLab application.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42B41"/>
                </a:solidFill>
                <a:latin typeface="Aptos"/>
              </a:defRPr>
            </a:pPr>
            <a:r>
              <a:t>Security &amp; Non-Functional Requirements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663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50292" cy="1170432"/>
          </a:xfrm>
          <a:prstGeom prst="rect">
            <a:avLst/>
          </a:prstGeom>
          <a:solidFill>
            <a:srgbClr val="DA4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527048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92808"/>
            <a:ext cx="48463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Password hashing • JWT • protected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663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0292" cy="1170432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527048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892808"/>
            <a:ext cx="48463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Optimized API and database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98648"/>
            <a:ext cx="51663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898648"/>
            <a:ext cx="50292" cy="1170432"/>
          </a:xfrm>
          <a:prstGeom prst="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008376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374136"/>
            <a:ext cx="48463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Graceful invalid-order handling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98648"/>
            <a:ext cx="51663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898648"/>
            <a:ext cx="50292" cy="1170432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1" y="3008376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3374136"/>
            <a:ext cx="48463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More users, stocks and competitions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79976"/>
            <a:ext cx="51663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379976"/>
            <a:ext cx="50292" cy="1170432"/>
          </a:xfrm>
          <a:prstGeom prst="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4489704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USABILITY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855464"/>
            <a:ext cx="48463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Responsive and understandable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379976"/>
            <a:ext cx="51663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4379976"/>
            <a:ext cx="50292" cy="1170432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1" y="4489704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B41"/>
                </a:solidFill>
                <a:latin typeface="Aptos"/>
              </a:defRPr>
            </a:pPr>
            <a:r>
              <a:t>MAINTAINABILITY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4855464"/>
            <a:ext cx="48463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56F84"/>
                </a:solidFill>
                <a:latin typeface="Aptos"/>
              </a:defRPr>
            </a:pPr>
            <a:r>
              <a:t>Modular frontend, backend and business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42B41"/>
                </a:solidFill>
                <a:latin typeface="Aptos"/>
              </a:defRPr>
            </a:pPr>
            <a:r>
              <a:t>MVP vs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86968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56F84"/>
                </a:solidFill>
                <a:latin typeface="Aptos"/>
              </a:defRPr>
            </a:pPr>
            <a:r>
              <a:t>Core functionality first; advanced functionality can follow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5780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50292" cy="4617720"/>
          </a:xfrm>
          <a:prstGeom prst="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435607"/>
            <a:ext cx="4937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42B41"/>
                </a:solidFill>
                <a:latin typeface="Aptos"/>
              </a:defRPr>
            </a:pPr>
            <a:r>
              <a:t>MVP /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01368"/>
            <a:ext cx="4937760" cy="4050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56F84"/>
                </a:solidFill>
                <a:latin typeface="Aptos"/>
              </a:defRPr>
            </a:pPr>
            <a:r>
              <a:t>✓ Registration &amp; Login</a:t>
            </a:r>
            <a:br/>
            <a:r>
              <a:t>✓ Dashboard &amp; market indices</a:t>
            </a:r>
            <a:br/>
            <a:r>
              <a:t>✓ Stock search &amp; details</a:t>
            </a:r>
            <a:br/>
            <a:r>
              <a:t>✓ Historical charts</a:t>
            </a:r>
            <a:br/>
            <a:r>
              <a:t>✓ Virtual wallet</a:t>
            </a:r>
            <a:br/>
            <a:r>
              <a:t>✓ Buy / Sell simulation</a:t>
            </a:r>
            <a:br/>
            <a:r>
              <a:t>✓ Portfolio &amp; P&amp;L</a:t>
            </a:r>
            <a:br/>
            <a:r>
              <a:t>✓ Order &amp; transaction history</a:t>
            </a:r>
            <a:br/>
            <a:r>
              <a:t>✓ Watchlist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25780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0292" cy="461772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435607"/>
            <a:ext cx="4937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42B41"/>
                </a:solidFill>
                <a:latin typeface="Aptos"/>
              </a:defRPr>
            </a:pPr>
            <a:r>
              <a:t>FUTURE / ADVANCED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01368"/>
            <a:ext cx="4937760" cy="4050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56F84"/>
                </a:solidFill>
                <a:latin typeface="Aptos"/>
              </a:defRPr>
            </a:pPr>
            <a:r>
              <a:t>• Limit orders</a:t>
            </a:r>
            <a:br/>
            <a:r>
              <a:t>• Stop-loss automation</a:t>
            </a:r>
            <a:br/>
            <a:r>
              <a:t>• Notifications</a:t>
            </a:r>
            <a:br/>
            <a:r>
              <a:t>• Trading analytics</a:t>
            </a:r>
            <a:br/>
            <a:r>
              <a:t>• Admin dashboard</a:t>
            </a:r>
            <a:br/>
            <a:r>
              <a:t>• Trading journal</a:t>
            </a:r>
            <a:br/>
            <a:r>
              <a:t>• Backtesting</a:t>
            </a:r>
            <a:br/>
            <a:r>
              <a:t>• Challenges &amp; leaderboard</a:t>
            </a:r>
            <a:br/>
            <a:r>
              <a:t>• Risk analysis</a:t>
            </a:r>
            <a:br/>
            <a:r>
              <a:t>• Technical indicators</a:t>
            </a:r>
            <a:br/>
            <a:r>
              <a:t>• Historical market replay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42B41"/>
                </a:solidFill>
                <a:latin typeface="Aptos"/>
              </a:defRPr>
            </a:pPr>
            <a:r>
              <a:t>Expected Outcomes &amp;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>
                <a:solidFill>
                  <a:srgbClr val="233C50"/>
                </a:solidFill>
                <a:latin typeface="Aptos"/>
              </a:defRPr>
            </a:pPr>
            <a:r>
              <a:t>• Risk-free trading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>
                <a:solidFill>
                  <a:srgbClr val="233C50"/>
                </a:solidFill>
                <a:latin typeface="Aptos"/>
              </a:defRPr>
            </a:pPr>
            <a:r>
              <a:t>• Practical order &amp; portfolio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>
                <a:solidFill>
                  <a:srgbClr val="233C50"/>
                </a:solidFill>
                <a:latin typeface="Aptos"/>
              </a:defRPr>
            </a:pPr>
            <a:r>
              <a:t>• Automatic P&amp;L and transaction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404872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>
                <a:solidFill>
                  <a:srgbClr val="233C50"/>
                </a:solidFill>
                <a:latin typeface="Aptos"/>
              </a:defRPr>
            </a:pPr>
            <a:r>
              <a:t>• Real market-data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92424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>
                <a:solidFill>
                  <a:srgbClr val="233C50"/>
                </a:solidFill>
                <a:latin typeface="Aptos"/>
              </a:defRPr>
            </a:pPr>
            <a:r>
              <a:t>• Hands-on full-stack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392424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>
                <a:solidFill>
                  <a:srgbClr val="233C50"/>
                </a:solidFill>
                <a:latin typeface="Aptos"/>
              </a:defRPr>
            </a:pPr>
            <a:r>
              <a:t>• Foundation for advanced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257800"/>
            <a:ext cx="1874519" cy="329184"/>
          </a:xfrm>
          <a:prstGeom prst="round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266944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5257800"/>
            <a:ext cx="2377440" cy="329184"/>
          </a:xfrm>
          <a:prstGeom prst="round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40" y="5266944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0C2B49"/>
                </a:solidFill>
                <a:latin typeface="Aptos"/>
              </a:defRPr>
            </a:pPr>
            <a:r>
              <a:t>WEB 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5257800"/>
            <a:ext cx="1280160" cy="329184"/>
          </a:xfrm>
          <a:prstGeom prst="round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0" y="5266944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0C2B49"/>
                </a:solidFill>
                <a:latin typeface="Aptos"/>
              </a:defRPr>
            </a:pPr>
            <a:r>
              <a:t>APIs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5257800"/>
            <a:ext cx="1874519" cy="329184"/>
          </a:xfrm>
          <a:prstGeom prst="round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5266944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0C2B49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5257800"/>
            <a:ext cx="1325880" cy="329184"/>
          </a:xfrm>
          <a:prstGeom prst="roundRect">
            <a:avLst/>
          </a:prstGeom>
          <a:solidFill>
            <a:srgbClr val="DA4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5266944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delab_presentatio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556F8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097280"/>
            <a:ext cx="6400800" cy="4754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097280"/>
            <a:ext cx="50292" cy="4754880"/>
          </a:xfrm>
          <a:prstGeom prst="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760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900" b="1">
                <a:solidFill>
                  <a:srgbClr val="0C2B49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57400"/>
            <a:ext cx="5669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C7AC4"/>
                </a:solidFill>
                <a:latin typeface="Aptos"/>
              </a:defRPr>
            </a:pPr>
            <a:r>
              <a:t>Learn the market. Practice the workflow. Measure the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88920"/>
            <a:ext cx="5486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3C50"/>
                </a:solidFill>
                <a:latin typeface="Aptos"/>
              </a:defRPr>
            </a:pPr>
            <a:r>
              <a:t>A complete virtual trading environment demonstrating full-stack development, API integration, authentication, database management and trading business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97680"/>
            <a:ext cx="841248" cy="329184"/>
          </a:xfrm>
          <a:prstGeom prst="round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306824"/>
            <a:ext cx="8412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4297680"/>
            <a:ext cx="841248" cy="329184"/>
          </a:xfrm>
          <a:prstGeom prst="round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47088" y="4306824"/>
            <a:ext cx="8412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9776" y="4297680"/>
            <a:ext cx="841248" cy="329184"/>
          </a:xfrm>
          <a:prstGeom prst="roundRect">
            <a:avLst/>
          </a:prstGeom>
          <a:solidFill>
            <a:srgbClr val="0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79776" y="4306824"/>
            <a:ext cx="8412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12464" y="4297680"/>
            <a:ext cx="841248" cy="329184"/>
          </a:xfrm>
          <a:prstGeom prst="roundRect">
            <a:avLst/>
          </a:prstGeom>
          <a:solidFill>
            <a:srgbClr val="CF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2464" y="4306824"/>
            <a:ext cx="8412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TRADE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5152" y="4297680"/>
            <a:ext cx="841248" cy="329184"/>
          </a:xfrm>
          <a:prstGeom prst="roundRect">
            <a:avLst/>
          </a:prstGeom>
          <a:solidFill>
            <a:srgbClr val="1C7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45152" y="4306824"/>
            <a:ext cx="8412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4297680"/>
            <a:ext cx="841248" cy="329184"/>
          </a:xfrm>
          <a:prstGeom prst="roundRect">
            <a:avLst/>
          </a:prstGeom>
          <a:solidFill>
            <a:srgbClr val="00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0" y="4306824"/>
            <a:ext cx="8412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P&amp;L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07492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C2B49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548640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56F84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55664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56F84"/>
                </a:solidFill>
                <a:latin typeface="Aptos"/>
              </a:defRPr>
            </a:pPr>
            <a:r>
              <a:t>TradeLab  •  Virtual Stock Market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980</Words>
  <Application>Microsoft Office PowerPoint</Application>
  <PresentationFormat>Widescreen</PresentationFormat>
  <Paragraphs>210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harshmahavar28@gmail.com</cp:lastModifiedBy>
  <cp:revision>1</cp:revision>
  <dcterms:created xsi:type="dcterms:W3CDTF">2013-01-27T09:14:16Z</dcterms:created>
  <dcterms:modified xsi:type="dcterms:W3CDTF">2026-09-28T15:37:14Z</dcterms:modified>
  <cp:category/>
</cp:coreProperties>
</file>