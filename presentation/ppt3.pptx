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58368" y="657664"/>
            <a:ext cx="5806440" cy="5074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2688" y="932688"/>
            <a:ext cx="3337560" cy="310896"/>
          </a:xfrm>
          <a:prstGeom prst="roundRect">
            <a:avLst/>
          </a:prstGeom>
          <a:solidFill>
            <a:srgbClr val="1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941832"/>
            <a:ext cx="3337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FULL STACK DEVELOPMENT • SEMESTER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417320"/>
            <a:ext cx="512064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3900" b="1">
                <a:solidFill>
                  <a:srgbClr val="00A670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03120"/>
            <a:ext cx="521208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3000" b="1">
                <a:solidFill>
                  <a:srgbClr val="112F4C"/>
                </a:solidFill>
                <a:latin typeface="Aptos"/>
              </a:defRPr>
            </a:pPr>
            <a:r>
              <a:t>Virtual Stock Market</a:t>
            </a:r>
            <a:br/>
            <a:r>
              <a:t>Trading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01568"/>
            <a:ext cx="5074920" cy="777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500" b="0">
                <a:solidFill>
                  <a:srgbClr val="50677B"/>
                </a:solidFill>
                <a:latin typeface="Aptos"/>
              </a:defRPr>
            </a:pPr>
            <a:r>
              <a:t>A full-stack platform for practicing stock trading with virtual money — without real financial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4434840"/>
            <a:ext cx="86868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4443983"/>
            <a:ext cx="8686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187DDC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1952" y="4434840"/>
            <a:ext cx="132588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01952" y="4443983"/>
            <a:ext cx="13258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187DDC"/>
                </a:solidFill>
                <a:latin typeface="Aptos"/>
              </a:defRPr>
            </a:pPr>
            <a:r>
              <a:t>NODE + EXPRESS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4434840"/>
            <a:ext cx="109728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4443983"/>
            <a:ext cx="1097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00919A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4434840"/>
            <a:ext cx="118872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4443983"/>
            <a:ext cx="11887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00A670"/>
                </a:solidFill>
                <a:latin typeface="Aptos"/>
              </a:defRPr>
            </a:pPr>
            <a:r>
              <a:t>UPSTOX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138928"/>
            <a:ext cx="49377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Name  |  Roll No.  | 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Why a safe and integrated trading simulator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24612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292607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D5474B"/>
                </a:solidFill>
                <a:latin typeface="Aptos"/>
              </a:defRPr>
            </a:pPr>
            <a:r>
              <a:t>01  FINANCIAL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2926079" cy="1280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Real trading requires capital, and beginner mistakes can cause real losses.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11880"/>
            <a:ext cx="324612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739896"/>
            <a:ext cx="292607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187DDC"/>
                </a:solidFill>
                <a:latin typeface="Aptos"/>
              </a:defRPr>
            </a:pPr>
            <a:r>
              <a:t>02  LIMITED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14800"/>
            <a:ext cx="2926079" cy="1280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Theory explains concepts, but users need practical experience with orders and portfolios.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874519"/>
            <a:ext cx="3246120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2002536"/>
            <a:ext cx="2926079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00919A"/>
                </a:solidFill>
                <a:latin typeface="Aptos"/>
              </a:defRPr>
            </a:pPr>
            <a:r>
              <a:t>03  DISCONNECTED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377439"/>
            <a:ext cx="2926079" cy="1280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Market data, charts, trades and performance are often experienced separately.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251960"/>
            <a:ext cx="9144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00A670"/>
                </a:solidFill>
                <a:latin typeface="Aptos"/>
              </a:defRPr>
            </a:pPr>
            <a:r>
              <a:t>Need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187952"/>
            <a:ext cx="475488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400" b="1">
                <a:solidFill>
                  <a:srgbClr val="112F4C"/>
                </a:solidFill>
                <a:latin typeface="Aptos"/>
              </a:defRPr>
            </a:pPr>
            <a:r>
              <a:t>A safe, interactive and realistic environment for practicing the complete trading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One platform connecting market data, simulated trading and portfolio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01168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400" b="1">
                <a:solidFill>
                  <a:srgbClr val="00A670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38528"/>
            <a:ext cx="6126480" cy="777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500" b="0">
                <a:solidFill>
                  <a:srgbClr val="112F4C"/>
                </a:solidFill>
                <a:latin typeface="Aptos"/>
              </a:defRPr>
            </a:pPr>
            <a:r>
              <a:t>Users receive virtual capital, access market data, simulate orders, manage holdings and evaluate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27432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099816"/>
            <a:ext cx="24231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187DDC"/>
                </a:solidFill>
                <a:latin typeface="Aptos"/>
              </a:defRPr>
            </a:pPr>
            <a:r>
              <a:t>MARKET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474720"/>
            <a:ext cx="242316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Indices • quotes • 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2971800"/>
            <a:ext cx="27432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7911" y="3099816"/>
            <a:ext cx="24231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00A670"/>
                </a:solidFill>
                <a:latin typeface="Aptos"/>
              </a:defRPr>
            </a:pPr>
            <a:r>
              <a:t>VIRTUAL 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1" y="3474720"/>
            <a:ext cx="242316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Wallet • balance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43400"/>
            <a:ext cx="27432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4471416"/>
            <a:ext cx="24231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00919A"/>
                </a:solidFill>
                <a:latin typeface="Aptos"/>
              </a:defRPr>
            </a:pPr>
            <a:r>
              <a:t>SIMULATED TRADING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846320"/>
            <a:ext cx="242316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Buy • sell •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4343400"/>
            <a:ext cx="27432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67911" y="4471416"/>
            <a:ext cx="24231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15B1D2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911" y="4846320"/>
            <a:ext cx="242316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Portfolio • P&amp;L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742432"/>
            <a:ext cx="3383280" cy="310896"/>
          </a:xfrm>
          <a:prstGeom prst="roundRect">
            <a:avLst/>
          </a:prstGeom>
          <a:solidFill>
            <a:srgbClr val="D5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" y="5751576"/>
            <a:ext cx="33832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NO REAL FINANCIAL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What TradeLab is designed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D5474B"/>
                </a:solidFill>
                <a:latin typeface="Aptos"/>
              </a:defRPr>
            </a:pPr>
            <a:r>
              <a:t>Risk-free 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01368"/>
            <a:ext cx="685800" cy="32004"/>
          </a:xfrm>
          <a:prstGeom prst="rect">
            <a:avLst/>
          </a:prstGeom>
          <a:solidFill>
            <a:srgbClr val="D5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2461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Practice trading without risking real money.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7DDC"/>
                </a:solidFill>
                <a:latin typeface="Aptos"/>
              </a:defRPr>
            </a:pPr>
            <a:r>
              <a:t>Realistic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01368"/>
            <a:ext cx="685800" cy="32004"/>
          </a:xfrm>
          <a:prstGeom prst="rect">
            <a:avLst/>
          </a:prstGeom>
          <a:solidFill>
            <a:srgbClr val="1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2461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Use market data, charts and familiar trading concepts.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70632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00A670"/>
                </a:solidFill>
                <a:latin typeface="Aptos"/>
              </a:defRPr>
            </a:pPr>
            <a:r>
              <a:t>Portfolio automation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54680"/>
            <a:ext cx="68580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273552"/>
            <a:ext cx="32461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Track holdings, wallet and portfolio 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70632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00919A"/>
                </a:solidFill>
                <a:latin typeface="Aptos"/>
              </a:defRPr>
            </a:pPr>
            <a:r>
              <a:t>P&amp;L insight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154680"/>
            <a:ext cx="685800" cy="32004"/>
          </a:xfrm>
          <a:prstGeom prst="rect">
            <a:avLst/>
          </a:prstGeom>
          <a:solidFill>
            <a:srgbClr val="00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3273552"/>
            <a:ext cx="32461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Calculate realized and unrealized performance.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23944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5B1D2"/>
                </a:solidFill>
                <a:latin typeface="Aptos"/>
              </a:defRPr>
            </a:pPr>
            <a:r>
              <a:t>Full-stack 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07992"/>
            <a:ext cx="685800" cy="32004"/>
          </a:xfrm>
          <a:prstGeom prst="rect">
            <a:avLst/>
          </a:prstGeom>
          <a:solidFill>
            <a:srgbClr val="15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626864"/>
            <a:ext cx="32461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Integrate frontend, APIs, backend and database.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23944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7DDC"/>
                </a:solidFill>
                <a:latin typeface="Aptos"/>
              </a:defRPr>
            </a:pPr>
            <a:r>
              <a:t>Scalable foundation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507992"/>
            <a:ext cx="685800" cy="32004"/>
          </a:xfrm>
          <a:prstGeom prst="rect">
            <a:avLst/>
          </a:prstGeom>
          <a:solidFill>
            <a:srgbClr val="1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4626864"/>
            <a:ext cx="32461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Enable future analytics and competitions.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Software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Technology stack used by the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7DD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9112" y="141732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50" b="0">
                <a:solidFill>
                  <a:srgbClr val="112F4C"/>
                </a:solidFill>
                <a:latin typeface="Aptos"/>
              </a:defRPr>
            </a:pPr>
            <a:r>
              <a:t>React.js • React Router • HTML • CSS • JavaScript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56232"/>
            <a:ext cx="55321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00A670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141732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50" b="0">
                <a:solidFill>
                  <a:srgbClr val="112F4C"/>
                </a:solidFill>
                <a:latin typeface="Aptos"/>
              </a:defRPr>
            </a:pPr>
            <a:r>
              <a:t>Node.js • Express.js • REST APIs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56232"/>
            <a:ext cx="55321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00919A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274320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50" b="0">
                <a:solidFill>
                  <a:srgbClr val="112F4C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82112"/>
            <a:ext cx="55321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5B1D2"/>
                </a:solidFill>
                <a:latin typeface="Aptos"/>
              </a:defRPr>
            </a:pPr>
            <a:r>
              <a:t>Market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274320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50" b="0">
                <a:solidFill>
                  <a:srgbClr val="112F4C"/>
                </a:solidFill>
                <a:latin typeface="Aptos"/>
              </a:defRPr>
            </a:pPr>
            <a:r>
              <a:t>Upstox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182112"/>
            <a:ext cx="55321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7DDC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9112" y="406908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50" b="0">
                <a:solidFill>
                  <a:srgbClr val="112F4C"/>
                </a:solidFill>
                <a:latin typeface="Aptos"/>
              </a:defRPr>
            </a:pPr>
            <a:r>
              <a:t>JWT • password hashing • protected routes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07992"/>
            <a:ext cx="55321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406908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00A670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406908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50" b="0">
                <a:solidFill>
                  <a:srgbClr val="112F4C"/>
                </a:solidFill>
                <a:latin typeface="Aptos"/>
              </a:defRPr>
            </a:pPr>
            <a:r>
              <a:t>VS Code • Git / GitHub • modern browser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507992"/>
            <a:ext cx="55321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6400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187DDC"/>
                </a:solidFill>
                <a:latin typeface="Aptos"/>
              </a:defRPr>
            </a:pPr>
            <a:r>
              <a:t>Browser-based application  •  REST / JSON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Hardware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No specialized hardware is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3154680" cy="3200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36776"/>
            <a:ext cx="28346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187DDC"/>
                </a:solidFill>
                <a:latin typeface="Aptos"/>
              </a:defRPr>
            </a:pPr>
            <a:r>
              <a:t>DEVELOPMENT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2834640" cy="2606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Intel i3 / equivalent</a:t>
            </a:r>
            <a:br/>
            <a:r>
              <a:t>8 GB RAM or higher</a:t>
            </a:r>
            <a:br/>
            <a:r>
              <a:t>10 GB+ available storage</a:t>
            </a:r>
            <a:br/>
            <a:r>
              <a:t>Stable internet</a:t>
            </a:r>
            <a:br/>
            <a:r>
              <a:t>1366 × 768 or higher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08760"/>
            <a:ext cx="3154680" cy="3200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636776"/>
            <a:ext cx="28346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00A670"/>
                </a:solidFill>
                <a:latin typeface="Aptos"/>
              </a:defRPr>
            </a:pPr>
            <a:r>
              <a:t>END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011680"/>
            <a:ext cx="2834640" cy="2606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Laptop or desktop</a:t>
            </a:r>
            <a:br/>
            <a:r>
              <a:t>Modern web browser</a:t>
            </a:r>
            <a:br/>
            <a:r>
              <a:t>Stable internet</a:t>
            </a:r>
            <a:br/>
            <a:r>
              <a:t>No dedicated GPU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5166360"/>
            <a:ext cx="5349240" cy="310896"/>
          </a:xfrm>
          <a:prstGeom prst="roundRect">
            <a:avLst/>
          </a:prstGeom>
          <a:solidFill>
            <a:srgbClr val="15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5175504"/>
            <a:ext cx="5349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112F4C"/>
                </a:solidFill>
                <a:latin typeface="Aptos"/>
              </a:defRPr>
            </a:pPr>
            <a:r>
              <a:t>BROWSER-BASED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Client–server architecture with database and external market-data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214884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459736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187DD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34639"/>
            <a:ext cx="18288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Browser / trader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508760"/>
            <a:ext cx="214884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0632" y="1636776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15B1D2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011680"/>
            <a:ext cx="18288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Pages • components</a:t>
            </a:r>
            <a:br/>
            <a:r>
              <a:t>Routing •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3383280"/>
            <a:ext cx="214884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0632" y="3511296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00A670"/>
                </a:solidFill>
                <a:latin typeface="Aptos"/>
              </a:defRPr>
            </a:pPr>
            <a:r>
              <a:t>NODE +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3886200"/>
            <a:ext cx="18288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REST API</a:t>
            </a:r>
            <a:br/>
            <a:r>
              <a:t>Business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3383280"/>
            <a:ext cx="214884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05272" y="3511296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00919A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3886200"/>
            <a:ext cx="18288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Users • portfolios</a:t>
            </a:r>
            <a:br/>
            <a:r>
              <a:t>Orders •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1508760"/>
            <a:ext cx="214884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05272" y="1636776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187DDC"/>
                </a:solidFill>
                <a:latin typeface="Aptos"/>
              </a:defRPr>
            </a:pPr>
            <a:r>
              <a:t>UPSTOX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5272" y="2011680"/>
            <a:ext cx="18288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Market quotes</a:t>
            </a:r>
            <a:br/>
            <a:r>
              <a:t>Historical data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34640" y="2971800"/>
            <a:ext cx="411480" cy="411480"/>
          </a:xfrm>
          <a:prstGeom prst="line">
            <a:avLst/>
          </a:prstGeom>
          <a:ln w="25400">
            <a:solidFill>
              <a:srgbClr val="187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54880" y="3977639"/>
            <a:ext cx="685800" cy="0"/>
          </a:xfrm>
          <a:prstGeom prst="line">
            <a:avLst/>
          </a:prstGeom>
          <a:ln w="25400">
            <a:solidFill>
              <a:srgbClr val="00A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54880" y="2148840"/>
            <a:ext cx="685800" cy="0"/>
          </a:xfrm>
          <a:prstGeom prst="line">
            <a:avLst/>
          </a:prstGeom>
          <a:ln w="25400">
            <a:solidFill>
              <a:srgbClr val="187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92240" y="2743200"/>
            <a:ext cx="0" cy="640080"/>
          </a:xfrm>
          <a:prstGeom prst="line">
            <a:avLst/>
          </a:prstGeom>
          <a:ln w="25400">
            <a:solidFill>
              <a:srgbClr val="187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154680" y="4983480"/>
            <a:ext cx="201168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54680" y="4992624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187DDC"/>
                </a:solidFill>
                <a:latin typeface="Aptos"/>
              </a:defRPr>
            </a:pPr>
            <a:r>
              <a:t>REST / 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Functional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Major capabilities of the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2651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7DDC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Registration • Login • JWT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40280"/>
            <a:ext cx="292608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2651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5B1D2"/>
                </a:solidFill>
                <a:latin typeface="Aptos"/>
              </a:defRPr>
            </a:pPr>
            <a:r>
              <a:t>Market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10512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Indices • Search • Stock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240280"/>
            <a:ext cx="292608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2651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00A670"/>
                </a:solidFill>
                <a:latin typeface="Aptos"/>
              </a:defRPr>
            </a:pPr>
            <a:r>
              <a:t>Trading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Buy / Sell •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66160"/>
            <a:ext cx="292608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2651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00919A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36392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Holdings • Wallet • P&amp;L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566160"/>
            <a:ext cx="292608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2651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7DDC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62272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Orders • Transactions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892040"/>
            <a:ext cx="292608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4069080"/>
            <a:ext cx="2651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5B1D2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62272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Watchlist • Performance • Journal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892040"/>
            <a:ext cx="292608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Database /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Conceptual MongoDB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87DD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17320"/>
            <a:ext cx="466344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112F4C"/>
                </a:solidFill>
                <a:latin typeface="Aptos"/>
              </a:defRPr>
            </a:pPr>
            <a:r>
              <a:t>userId • email • password • virtualBalance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20240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A670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17320"/>
            <a:ext cx="466344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112F4C"/>
                </a:solidFill>
                <a:latin typeface="Aptos"/>
              </a:defRPr>
            </a:pPr>
            <a:r>
              <a:t>userId • holdings • averagePrice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919A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51760"/>
            <a:ext cx="466344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112F4C"/>
                </a:solidFill>
                <a:latin typeface="Aptos"/>
              </a:defRPr>
            </a:pPr>
            <a:r>
              <a:t>orderId • symbol • quantity •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54680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651760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5B1D2"/>
                </a:solidFill>
                <a:latin typeface="Aptos"/>
              </a:defRPr>
            </a:pPr>
            <a:r>
              <a:t>WATCHLIST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651760"/>
            <a:ext cx="466344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112F4C"/>
                </a:solidFill>
                <a:latin typeface="Aptos"/>
              </a:defRPr>
            </a:pPr>
            <a:r>
              <a:t>userId • symbols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154680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87DDC"/>
                </a:solidFill>
                <a:latin typeface="Aptos"/>
              </a:defRPr>
            </a:pPr>
            <a:r>
              <a:t>TRANSACTION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886200"/>
            <a:ext cx="466344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112F4C"/>
                </a:solidFill>
                <a:latin typeface="Aptos"/>
              </a:defRPr>
            </a:pPr>
            <a:r>
              <a:t>transactionId • userId • symbol • type • price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89120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3886200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A670"/>
                </a:solidFill>
                <a:latin typeface="Aptos"/>
              </a:defRPr>
            </a:pPr>
            <a:r>
              <a:t>JOURNAL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886200"/>
            <a:ext cx="466344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112F4C"/>
                </a:solidFill>
                <a:latin typeface="Aptos"/>
              </a:defRPr>
            </a:pPr>
            <a:r>
              <a:t>tradeId • reasoning • notes • timestamp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389120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6400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87DDC"/>
                </a:solidFill>
                <a:latin typeface="Aptos"/>
              </a:defRPr>
            </a:pPr>
            <a:r>
              <a:t>User identity acts as the ownership boundary for private trading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Simulated Trading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From stock selection to portfolio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417320"/>
            <a:ext cx="420624" cy="420624"/>
          </a:xfrm>
          <a:prstGeom prst="ellipse">
            <a:avLst/>
          </a:prstGeom>
          <a:solidFill>
            <a:srgbClr val="1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35608"/>
            <a:ext cx="4206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399032"/>
            <a:ext cx="1508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1">
                <a:solidFill>
                  <a:srgbClr val="112F4C"/>
                </a:solidFill>
                <a:latin typeface="Aptos"/>
              </a:defRPr>
            </a:pPr>
            <a:r>
              <a:t>Select stock</a:t>
            </a:r>
          </a:p>
        </p:txBody>
      </p:sp>
      <p:sp>
        <p:nvSpPr>
          <p:cNvPr id="11" name="Oval 10"/>
          <p:cNvSpPr/>
          <p:nvPr/>
        </p:nvSpPr>
        <p:spPr>
          <a:xfrm>
            <a:off x="2880360" y="1417320"/>
            <a:ext cx="420624" cy="420624"/>
          </a:xfrm>
          <a:prstGeom prst="ellipse">
            <a:avLst/>
          </a:prstGeom>
          <a:solidFill>
            <a:srgbClr val="15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1435608"/>
            <a:ext cx="4206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399032"/>
            <a:ext cx="1508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1">
                <a:solidFill>
                  <a:srgbClr val="112F4C"/>
                </a:solidFill>
                <a:latin typeface="Aptos"/>
              </a:defRPr>
            </a:pPr>
            <a:r>
              <a:t>Buy / Sell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0" y="1417320"/>
            <a:ext cx="420624" cy="420624"/>
          </a:xfrm>
          <a:prstGeom prst="ellipse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1435608"/>
            <a:ext cx="4206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1399032"/>
            <a:ext cx="1508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1">
                <a:solidFill>
                  <a:srgbClr val="112F4C"/>
                </a:solidFill>
                <a:latin typeface="Aptos"/>
              </a:defRPr>
            </a:pPr>
            <a:r>
              <a:t>Enter quantity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651760"/>
            <a:ext cx="420624" cy="420624"/>
          </a:xfrm>
          <a:prstGeom prst="ellipse">
            <a:avLst/>
          </a:prstGeom>
          <a:solidFill>
            <a:srgbClr val="1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670048"/>
            <a:ext cx="4206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633472"/>
            <a:ext cx="1508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1">
                <a:solidFill>
                  <a:srgbClr val="112F4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0" name="Oval 19"/>
          <p:cNvSpPr/>
          <p:nvPr/>
        </p:nvSpPr>
        <p:spPr>
          <a:xfrm>
            <a:off x="2880360" y="2651760"/>
            <a:ext cx="420624" cy="420624"/>
          </a:xfrm>
          <a:prstGeom prst="ellipse">
            <a:avLst/>
          </a:prstGeom>
          <a:solidFill>
            <a:srgbClr val="15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80360" y="2670048"/>
            <a:ext cx="4206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633472"/>
            <a:ext cx="1508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1">
                <a:solidFill>
                  <a:srgbClr val="112F4C"/>
                </a:solidFill>
                <a:latin typeface="Aptos"/>
              </a:defRPr>
            </a:pPr>
            <a:r>
              <a:t>Execute simulation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0" y="2651760"/>
            <a:ext cx="420624" cy="420624"/>
          </a:xfrm>
          <a:prstGeom prst="ellipse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2670048"/>
            <a:ext cx="4206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2633472"/>
            <a:ext cx="1508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1">
                <a:solidFill>
                  <a:srgbClr val="112F4C"/>
                </a:solidFill>
                <a:latin typeface="Aptos"/>
              </a:defRPr>
            </a:pPr>
            <a:r>
              <a:t>Update wallet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3886200"/>
            <a:ext cx="420624" cy="420624"/>
          </a:xfrm>
          <a:prstGeom prst="ellipse">
            <a:avLst/>
          </a:prstGeom>
          <a:solidFill>
            <a:srgbClr val="1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904487"/>
            <a:ext cx="4206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867912"/>
            <a:ext cx="1508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1">
                <a:solidFill>
                  <a:srgbClr val="112F4C"/>
                </a:solidFill>
                <a:latin typeface="Aptos"/>
              </a:defRPr>
            </a:pPr>
            <a:r>
              <a:t>Update portfolio</a:t>
            </a:r>
          </a:p>
        </p:txBody>
      </p:sp>
      <p:sp>
        <p:nvSpPr>
          <p:cNvPr id="29" name="Oval 28"/>
          <p:cNvSpPr/>
          <p:nvPr/>
        </p:nvSpPr>
        <p:spPr>
          <a:xfrm>
            <a:off x="2880360" y="3886200"/>
            <a:ext cx="420624" cy="420624"/>
          </a:xfrm>
          <a:prstGeom prst="ellipse">
            <a:avLst/>
          </a:prstGeom>
          <a:solidFill>
            <a:srgbClr val="15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80360" y="3904487"/>
            <a:ext cx="4206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0712" y="3867912"/>
            <a:ext cx="1508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1">
                <a:solidFill>
                  <a:srgbClr val="112F4C"/>
                </a:solidFill>
                <a:latin typeface="Aptos"/>
              </a:defRPr>
            </a:pPr>
            <a:r>
              <a:t>Record transaction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0" y="3886200"/>
            <a:ext cx="420624" cy="420624"/>
          </a:xfrm>
          <a:prstGeom prst="ellipse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0" y="3904487"/>
            <a:ext cx="4206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9552" y="3867912"/>
            <a:ext cx="15087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1">
                <a:solidFill>
                  <a:srgbClr val="112F4C"/>
                </a:solidFill>
                <a:latin typeface="Aptos"/>
              </a:defRPr>
            </a:pPr>
            <a:r>
              <a:t>Recalculate P&amp;L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0240" y="5486400"/>
            <a:ext cx="2971800" cy="310896"/>
          </a:xfrm>
          <a:prstGeom prst="roundRect">
            <a:avLst/>
          </a:prstGeom>
          <a:solidFill>
            <a:srgbClr val="D54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20240" y="5495544"/>
            <a:ext cx="29718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ALL OPERATIONS ARE SIMULATED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Application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Recommended demo journey — replace these labels with your actual 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87DDC"/>
                </a:solidFill>
                <a:latin typeface="Aptos"/>
              </a:defRPr>
            </a:pPr>
            <a:r>
              <a:t>LOGIN /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Insert screenshot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21408"/>
            <a:ext cx="30175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5B1D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19072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Insert screenshot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121408"/>
            <a:ext cx="30175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1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A670"/>
                </a:solidFill>
                <a:latin typeface="Aptos"/>
              </a:defRPr>
            </a:pPr>
            <a:r>
              <a:t>STOCK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98063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Insert screenshot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200399"/>
            <a:ext cx="30175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450591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919A"/>
                </a:solidFill>
                <a:latin typeface="Aptos"/>
              </a:defRPr>
            </a:pPr>
            <a:r>
              <a:t>TRADE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98063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Insert screenshot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200399"/>
            <a:ext cx="30175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29584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87DDC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77056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Insert screenshot 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279392"/>
            <a:ext cx="30175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3529584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5B1D2"/>
                </a:solidFill>
                <a:latin typeface="Aptos"/>
              </a:defRPr>
            </a:pPr>
            <a:r>
              <a:t>WATCHLIST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877056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Insert screenshot 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279392"/>
            <a:ext cx="30175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608576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A670"/>
                </a:solidFill>
                <a:latin typeface="Aptos"/>
              </a:defRPr>
            </a:pPr>
            <a:r>
              <a:t>ORDER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56048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Insert screenshot here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58384"/>
            <a:ext cx="30175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4608576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919A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956048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50677B"/>
                </a:solidFill>
                <a:latin typeface="Aptos"/>
              </a:defRPr>
            </a:pPr>
            <a:r>
              <a:t>Insert screenshot 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5358384"/>
            <a:ext cx="301752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486400"/>
            <a:ext cx="58521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00" b="1">
                <a:solidFill>
                  <a:srgbClr val="187DDC"/>
                </a:solidFill>
                <a:latin typeface="Aptos"/>
              </a:defRPr>
            </a:pPr>
            <a:r>
              <a:t>Use actual TradeLab screenshots for the final faculty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Security &amp; 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Quality attributes that support a reliable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D5474B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371600"/>
            <a:ext cx="44805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80" b="0">
                <a:solidFill>
                  <a:srgbClr val="112F4C"/>
                </a:solidFill>
                <a:latin typeface="Aptos"/>
              </a:defRPr>
            </a:pPr>
            <a:r>
              <a:t>Password hashing • JWT • protected APIs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87DDC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1371600"/>
            <a:ext cx="44805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80" b="0">
                <a:solidFill>
                  <a:srgbClr val="112F4C"/>
                </a:solidFill>
                <a:latin typeface="Aptos"/>
              </a:defRPr>
            </a:pPr>
            <a:r>
              <a:t>Optimized API and database operations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38528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A670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06040"/>
            <a:ext cx="44805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80" b="0">
                <a:solidFill>
                  <a:srgbClr val="112F4C"/>
                </a:solidFill>
                <a:latin typeface="Aptos"/>
              </a:defRPr>
            </a:pPr>
            <a:r>
              <a:t>Graceful invalid-order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72968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60604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919A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2606040"/>
            <a:ext cx="44805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80" b="0">
                <a:solidFill>
                  <a:srgbClr val="112F4C"/>
                </a:solidFill>
                <a:latin typeface="Aptos"/>
              </a:defRPr>
            </a:pPr>
            <a:r>
              <a:t>More users, stocks and competitions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172968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5B1D2"/>
                </a:solidFill>
                <a:latin typeface="Aptos"/>
              </a:defRPr>
            </a:pPr>
            <a:r>
              <a:t>Usability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840480"/>
            <a:ext cx="44805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80" b="0">
                <a:solidFill>
                  <a:srgbClr val="112F4C"/>
                </a:solidFill>
                <a:latin typeface="Aptos"/>
              </a:defRPr>
            </a:pPr>
            <a:r>
              <a:t>Responsive and understandable 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407408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38404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87DDC"/>
                </a:solidFill>
                <a:latin typeface="Aptos"/>
              </a:defRPr>
            </a:pPr>
            <a:r>
              <a:t>Maintainability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3840480"/>
            <a:ext cx="44805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80" b="0">
                <a:solidFill>
                  <a:srgbClr val="112F4C"/>
                </a:solidFill>
                <a:latin typeface="Aptos"/>
              </a:defRPr>
            </a:pPr>
            <a:r>
              <a:t>Modular frontend, backend and business logic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407408"/>
            <a:ext cx="54864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MVP vs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Core functionality first; advanced functionality can follow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000" b="1">
                <a:solidFill>
                  <a:srgbClr val="00A670"/>
                </a:solidFill>
                <a:latin typeface="Aptos"/>
              </a:defRPr>
            </a:pPr>
            <a:r>
              <a:t>MVP / 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0584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2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Registration &amp;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2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50592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Dashboard &amp; market indices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43784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2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43784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Stock search &amp;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36976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2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36976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Historical 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30168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2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30168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Virtual wallet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23360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2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23360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Buy / Sell 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2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16552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Portfolio &amp; P&amp;L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09744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2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09744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Order &amp; transaction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02936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2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202936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20" b="0">
                <a:solidFill>
                  <a:srgbClr val="50677B"/>
                </a:solidFill>
                <a:latin typeface="Aptos"/>
              </a:defRPr>
            </a:pPr>
            <a:r>
              <a:t>Watchlist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1417320"/>
            <a:ext cx="283464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000" b="1">
                <a:solidFill>
                  <a:srgbClr val="187DDC"/>
                </a:solidFill>
                <a:latin typeface="Aptos"/>
              </a:defRPr>
            </a:pPr>
            <a:r>
              <a:t>FUTURE / ADVANCED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828800"/>
            <a:ext cx="1234440" cy="32004"/>
          </a:xfrm>
          <a:prstGeom prst="rect">
            <a:avLst/>
          </a:prstGeom>
          <a:solidFill>
            <a:srgbClr val="1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3560" y="2057400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057400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Limit 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2395728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2395728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Stop-loss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2734056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734056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3072384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072384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Trading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3410712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3410712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3749039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749039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Trading journal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087368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087368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Backtesting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4425696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4425696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Challenges &amp; leaderboard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4764024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4764024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Risk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102352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102352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Technical indicators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0" y="5440680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70" b="1">
                <a:solidFill>
                  <a:srgbClr val="187DD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5440680"/>
            <a:ext cx="49834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70" b="0">
                <a:solidFill>
                  <a:srgbClr val="50677B"/>
                </a:solidFill>
                <a:latin typeface="Aptos"/>
              </a:defRPr>
            </a:pPr>
            <a:r>
              <a:t>Historical market replay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93192"/>
            <a:ext cx="3840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00" b="1">
                <a:solidFill>
                  <a:srgbClr val="187DD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"/>
            <a:ext cx="79552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700" b="1">
                <a:solidFill>
                  <a:srgbClr val="112F4C"/>
                </a:solidFill>
                <a:latin typeface="Aptos"/>
              </a:defRPr>
            </a:pPr>
            <a:r>
              <a:t>Expected Outcomes &amp;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59536"/>
            <a:ext cx="960120" cy="32004"/>
          </a:xfrm>
          <a:prstGeom prst="rect">
            <a:avLst/>
          </a:prstGeom>
          <a:solidFill>
            <a:srgbClr val="00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82296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640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800" b="1">
                <a:solidFill>
                  <a:srgbClr val="50677B"/>
                </a:solidFill>
                <a:latin typeface="Aptos"/>
              </a:defRPr>
            </a:pPr>
            <a:r>
              <a:t>TradeLab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D5474B"/>
                </a:solidFill>
                <a:latin typeface="Aptos"/>
              </a:defRPr>
            </a:pPr>
            <a:r>
              <a:t>Risk-free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Safe trading practice with virtual money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86000"/>
            <a:ext cx="29718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87DDC"/>
                </a:solidFill>
                <a:latin typeface="Aptos"/>
              </a:defRPr>
            </a:pPr>
            <a:r>
              <a:t>Practical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10512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Order, portfolio and P&amp;L concepts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29718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A670"/>
                </a:solidFill>
                <a:latin typeface="Aptos"/>
              </a:defRPr>
            </a:pPr>
            <a:r>
              <a:t>Automated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Transactions and performance are recorded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11880"/>
            <a:ext cx="29718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00919A"/>
                </a:solidFill>
                <a:latin typeface="Aptos"/>
              </a:defRPr>
            </a:pPr>
            <a:r>
              <a:t>Market-data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36392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Application connects to market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611880"/>
            <a:ext cx="29718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5B1D2"/>
                </a:solidFill>
                <a:latin typeface="Aptos"/>
              </a:defRPr>
            </a:pPr>
            <a:r>
              <a:t>Full-stack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62272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Frontend, APIs, backend and 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937760"/>
            <a:ext cx="29718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406908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250" b="1">
                <a:solidFill>
                  <a:srgbClr val="187DDC"/>
                </a:solidFill>
                <a:latin typeface="Aptos"/>
              </a:defRPr>
            </a:pPr>
            <a:r>
              <a:t>Future-ready 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62272"/>
            <a:ext cx="32461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50677B"/>
                </a:solidFill>
                <a:latin typeface="Aptos"/>
              </a:defRPr>
            </a:pPr>
            <a:r>
              <a:t>Basis for advanced analytics and challenges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937760"/>
            <a:ext cx="2971800" cy="32004"/>
          </a:xfrm>
          <a:prstGeom prst="rect">
            <a:avLst/>
          </a:prstGeom>
          <a:solidFill>
            <a:srgbClr val="C4D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68680" y="5532120"/>
            <a:ext cx="105156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541264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187DDC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7400" y="5532120"/>
            <a:ext cx="150876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57400" y="5541264"/>
            <a:ext cx="1508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187DDC"/>
                </a:solidFill>
                <a:latin typeface="Aptos"/>
              </a:defRPr>
            </a:pPr>
            <a:r>
              <a:t>WEB DEVELOPMENT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5532120"/>
            <a:ext cx="73152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03320" y="5541264"/>
            <a:ext cx="7315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00919A"/>
                </a:solidFill>
                <a:latin typeface="Aptos"/>
              </a:defRPr>
            </a:pPr>
            <a:r>
              <a:t>APIs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53712" y="5532120"/>
            <a:ext cx="105156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53712" y="5541264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00A670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5532120"/>
            <a:ext cx="96012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5541264"/>
            <a:ext cx="9601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D5474B"/>
                </a:solidFill>
                <a:latin typeface="Aptos"/>
              </a:defRPr>
            </a:pPr>
            <a:r>
              <a:t>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c7894c1-dcda-447e-a82c-e24c61e06c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798" y="914400"/>
            <a:ext cx="5671039" cy="457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4846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3400" b="1">
                <a:solidFill>
                  <a:srgbClr val="00A670"/>
                </a:solidFill>
                <a:latin typeface="Aptos"/>
              </a:defRPr>
            </a:pPr>
            <a:r>
              <a:t>TradeLab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983480" cy="1325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2500" b="1">
                <a:solidFill>
                  <a:srgbClr val="112F4C"/>
                </a:solidFill>
                <a:latin typeface="Aptos"/>
              </a:defRPr>
            </a:pPr>
            <a:r>
              <a:t>Learn the market.</a:t>
            </a:r>
            <a:br/>
            <a:r>
              <a:t>Practice the workflow.</a:t>
            </a:r>
            <a:br/>
            <a:r>
              <a:t>Measure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66160"/>
            <a:ext cx="4983480" cy="9144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400" b="0">
                <a:solidFill>
                  <a:srgbClr val="50677B"/>
                </a:solidFill>
                <a:latin typeface="Aptos"/>
              </a:defRPr>
            </a:pPr>
            <a:r>
              <a:t>A complete virtual trading environment demonstrating full-stack development, API integration, authentication, database management and trading business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983480"/>
            <a:ext cx="91440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992624"/>
            <a:ext cx="9144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187DDC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4983480"/>
            <a:ext cx="91440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93392" y="4992624"/>
            <a:ext cx="9144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15B1D2"/>
                </a:solidFill>
                <a:latin typeface="Aptos"/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26664" y="4983480"/>
            <a:ext cx="91440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26664" y="4992624"/>
            <a:ext cx="9144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00919A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9936" y="4983480"/>
            <a:ext cx="868680" cy="310896"/>
          </a:xfrm>
          <a:prstGeom prst="roundRect">
            <a:avLst/>
          </a:prstGeom>
          <a:solidFill>
            <a:srgbClr val="ED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9936" y="4992624"/>
            <a:ext cx="86868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00A670"/>
                </a:solidFill>
                <a:latin typeface="Aptos"/>
              </a:defRPr>
            </a:pPr>
            <a:r>
              <a:t>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57400"/>
            <a:ext cx="36576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3000" b="1">
                <a:solidFill>
                  <a:srgbClr val="187DD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788920"/>
            <a:ext cx="4023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700" b="1">
                <a:solidFill>
                  <a:srgbClr val="112F4C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5806440"/>
            <a:ext cx="42062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000" b="0">
                <a:solidFill>
                  <a:srgbClr val="50677B"/>
                </a:solidFill>
                <a:latin typeface="Aptos"/>
              </a:defRPr>
            </a:pPr>
            <a:r>
              <a:t>TradeLab • Virtual Stock Market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905</Words>
  <Application>Microsoft Office PowerPoint</Application>
  <PresentationFormat>Widescreen</PresentationFormat>
  <Paragraphs>263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harshmahavar28@gmail.com</cp:lastModifiedBy>
  <cp:revision>2</cp:revision>
  <dcterms:created xsi:type="dcterms:W3CDTF">2013-01-27T09:14:16Z</dcterms:created>
  <dcterms:modified xsi:type="dcterms:W3CDTF">2026-09-28T16:14:05Z</dcterms:modified>
  <cp:category/>
</cp:coreProperties>
</file>