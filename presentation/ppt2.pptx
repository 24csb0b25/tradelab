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1792" y="502920"/>
            <a:ext cx="58521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68680"/>
            <a:ext cx="33375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96112"/>
            <a:ext cx="33375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FULL STACK DEVELOPMENT • SEMESTER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212080" cy="6858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3800" b="1" i="0">
                <a:solidFill>
                  <a:srgbClr val="00AA73"/>
                </a:solidFill>
                <a:latin typeface="Aptos"/>
              </a:rPr>
              <a:t>TradeLab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303520" cy="11430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3100" b="1" i="0">
                <a:solidFill>
                  <a:srgbClr val="112B48"/>
                </a:solidFill>
                <a:latin typeface="Aptos"/>
              </a:rPr>
              <a:t>Virtual Stock Market
Trading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074920" cy="8229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0" i="0">
                <a:solidFill>
                  <a:srgbClr val="5C6C7C"/>
                </a:solidFill>
                <a:latin typeface="Aptos"/>
              </a:rPr>
              <a:t>Practice the complete trading workflow using virtual money — without real financial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17720"/>
            <a:ext cx="91440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91440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4617720"/>
            <a:ext cx="132588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4645152"/>
            <a:ext cx="132588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NODE +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4617720"/>
            <a:ext cx="114300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4645152"/>
            <a:ext cx="114300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00A096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617720"/>
            <a:ext cx="114300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645152"/>
            <a:ext cx="114300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00AA73"/>
                </a:solidFill>
                <a:latin typeface="Aptos"/>
              </a:rPr>
              <a:t>UPSTOX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5120640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Name  |  Roll No.  | 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327648"/>
            <a:ext cx="416052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900" b="0" i="0">
                <a:solidFill>
                  <a:srgbClr val="5C6C7C"/>
                </a:solidFill>
                <a:latin typeface="Aptos"/>
              </a:rPr>
              <a:t>TradeLab • Virtual Stock Market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Why a safe and integrated trading simulator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3337560"/>
          </a:xfrm>
          <a:prstGeom prst="rect">
            <a:avLst/>
          </a:prstGeom>
          <a:solidFill>
            <a:srgbClr val="DC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3044952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112B48"/>
                </a:solidFill>
                <a:latin typeface="Aptos"/>
              </a:rPr>
              <a:t>01 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Real trading requires capital.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Beginner mistakes can cause actual financial losses.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417320"/>
            <a:ext cx="64008" cy="3337560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581912"/>
            <a:ext cx="3044952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112B48"/>
                </a:solidFill>
                <a:latin typeface="Aptos"/>
              </a:rPr>
              <a:t>02  LIMITED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039112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Theory explains concepts, but practice is different.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606040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Learners need experience with orders and portfolios.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41732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417320"/>
            <a:ext cx="64008" cy="333756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581912"/>
            <a:ext cx="3044952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112B48"/>
                </a:solidFill>
                <a:latin typeface="Aptos"/>
              </a:rPr>
              <a:t>03  DISCONNECTED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039112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Market data, charts, trades and performance may be experienced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606040"/>
            <a:ext cx="301752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A unified workflow improves practical learning.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5074920"/>
            <a:ext cx="9646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266944"/>
            <a:ext cx="9601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00AA73"/>
                </a:solidFill>
                <a:latin typeface="Aptos"/>
              </a:rPr>
              <a:t>Need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202936"/>
            <a:ext cx="804672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500" b="1" i="0">
                <a:solidFill>
                  <a:srgbClr val="112B48"/>
                </a:solidFill>
                <a:latin typeface="Aptos"/>
              </a:rPr>
              <a:t>A safe, interactive and realistic environment for practicing the complete trading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TradeLab combines market data, simulation and portfolio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1508760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100" b="1" i="0">
                <a:solidFill>
                  <a:srgbClr val="00AA73"/>
                </a:solidFill>
                <a:latin typeface="Aptos"/>
              </a:rPr>
              <a:t>TradeLab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72768"/>
            <a:ext cx="8732520" cy="47548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400" b="0" i="0">
                <a:solidFill>
                  <a:srgbClr val="1C242E"/>
                </a:solidFill>
                <a:latin typeface="Aptos"/>
              </a:rPr>
              <a:t>Users receive virtual capital, access market data, simulate orders, manage holdings and evaluate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926080"/>
            <a:ext cx="438912" cy="438912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35224"/>
            <a:ext cx="438912" cy="420623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07792"/>
            <a:ext cx="1572768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00" b="1" i="0">
                <a:solidFill>
                  <a:srgbClr val="112B48"/>
                </a:solidFill>
                <a:latin typeface="Aptos"/>
              </a:rPr>
              <a:t>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66160"/>
            <a:ext cx="210312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Indices • quotes •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74320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926080"/>
            <a:ext cx="438912" cy="438912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935224"/>
            <a:ext cx="438912" cy="420623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907792"/>
            <a:ext cx="1572768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00" b="1" i="0">
                <a:solidFill>
                  <a:srgbClr val="112B48"/>
                </a:solidFill>
                <a:latin typeface="Aptos"/>
              </a:rPr>
              <a:t>VIRTUAL CAPITAL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566160"/>
            <a:ext cx="210312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Wallet • balance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926080"/>
            <a:ext cx="438912" cy="438912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935224"/>
            <a:ext cx="438912" cy="420623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907792"/>
            <a:ext cx="1572768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00" b="1" i="0">
                <a:solidFill>
                  <a:srgbClr val="112B48"/>
                </a:solidFill>
                <a:latin typeface="Aptos"/>
              </a:rPr>
              <a:t>SIMULATED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566160"/>
            <a:ext cx="210312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Buy • sell •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74320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926080"/>
            <a:ext cx="438912" cy="438912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935224"/>
            <a:ext cx="438912" cy="420623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907792"/>
            <a:ext cx="1572768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00" b="1" i="0">
                <a:solidFill>
                  <a:srgbClr val="112B48"/>
                </a:solidFill>
                <a:latin typeface="Aptos"/>
              </a:rPr>
              <a:t>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3566160"/>
            <a:ext cx="210312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Portfolio • P&amp;L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4800600"/>
            <a:ext cx="6309360" cy="71323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4992624"/>
            <a:ext cx="630936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500" b="1" i="0">
                <a:solidFill>
                  <a:srgbClr val="2380DC"/>
                </a:solidFill>
                <a:latin typeface="Aptos"/>
              </a:rPr>
              <a:t>NO REAL FINANCIAL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What TradeLab is designed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627632"/>
            <a:ext cx="475488" cy="475488"/>
          </a:xfrm>
          <a:prstGeom prst="ellipse">
            <a:avLst/>
          </a:prstGeom>
          <a:solidFill>
            <a:srgbClr val="DC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3677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60020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RISK-FREE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0370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Practice trading without risking real money.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627632"/>
            <a:ext cx="475488" cy="475488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3677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60020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REALISTIC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0370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Use market data, charts and familiar trading concepts.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41732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2" y="1627632"/>
            <a:ext cx="475488" cy="475488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63677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160020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PORTFOLIO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20370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Track holdings, wallet and portfolio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8328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3593592"/>
            <a:ext cx="475488" cy="475488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60273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56616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P&amp;L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16966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Calculate realized and unrealized performance.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38328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3593592"/>
            <a:ext cx="475488" cy="475488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60273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4" y="356616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FULL-STACK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16966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Integrate frontend, APIs, backend and database.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338328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57032" y="3593592"/>
            <a:ext cx="475488" cy="475488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3602736"/>
            <a:ext cx="475488" cy="457200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3566160"/>
            <a:ext cx="233172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SCALABLE 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4169664"/>
            <a:ext cx="2926080" cy="56692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Enable future analytics and competitions.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Software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Technology stack used by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81912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1572768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React.js • React Router • HTML • CSS •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11430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572768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Node.js • Express.js • REST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98648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98648"/>
            <a:ext cx="73152" cy="1143000"/>
          </a:xfrm>
          <a:prstGeom prst="rect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063240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3054096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MongoDB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98648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98648"/>
            <a:ext cx="73152" cy="1143000"/>
          </a:xfrm>
          <a:prstGeom prst="rect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063240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MARKET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3054096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Upstox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79976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79976"/>
            <a:ext cx="73152" cy="1143000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544568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4535424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JWT • password hashing • protected 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79976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379976"/>
            <a:ext cx="73152" cy="11430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544568"/>
            <a:ext cx="15544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4535424"/>
            <a:ext cx="320040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1C242E"/>
                </a:solidFill>
                <a:latin typeface="Aptos"/>
              </a:rPr>
              <a:t>VS Code • Git / GitHub • modern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97880"/>
            <a:ext cx="10241280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Browser-based application • REST/JSON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No specialized hardware is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3566160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4828032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112B48"/>
                </a:solidFill>
                <a:latin typeface="Aptos"/>
              </a:rPr>
              <a:t>DEVELOPMENT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39112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Intel i3 / equivalent 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8 GB RAM or higher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10 GB+ available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Stable internet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06824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1366 × 768 display or higher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64008" cy="356616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581912"/>
            <a:ext cx="4828032" cy="34747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600" b="1" i="0">
                <a:solidFill>
                  <a:srgbClr val="112B48"/>
                </a:solidFill>
                <a:latin typeface="Aptos"/>
              </a:rPr>
              <a:t>END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39112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Laptop or desktop computer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Modern web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72968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Stable internet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39896"/>
            <a:ext cx="4800600" cy="39319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20" b="0" i="0">
                <a:solidFill>
                  <a:srgbClr val="1C242E"/>
                </a:solidFill>
                <a:latin typeface="Aptos"/>
              </a:rPr>
              <a:t>•  No dedicated GPU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303520"/>
            <a:ext cx="667512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5477256"/>
            <a:ext cx="667512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400" b="1" i="0">
                <a:solidFill>
                  <a:srgbClr val="2380DC"/>
                </a:solidFill>
                <a:latin typeface="Aptos"/>
              </a:rPr>
              <a:t>BROWSER-BASED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Client–server architecture with database and external market-data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587752"/>
            <a:ext cx="21031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990088"/>
            <a:ext cx="21031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0" i="0">
                <a:solidFill>
                  <a:srgbClr val="1C242E"/>
                </a:solidFill>
                <a:latin typeface="Aptos"/>
              </a:rPr>
              <a:t>Browser / trader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1581912"/>
            <a:ext cx="21031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18B4D2"/>
                </a:solidFill>
                <a:latin typeface="Aptos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1984248"/>
            <a:ext cx="21031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0" i="0">
                <a:solidFill>
                  <a:srgbClr val="1C242E"/>
                </a:solidFill>
                <a:latin typeface="Aptos"/>
              </a:rPr>
              <a:t>Pages • components
Routing •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3375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3502152"/>
            <a:ext cx="21031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096"/>
                </a:solidFill>
                <a:latin typeface="Aptos"/>
              </a:rPr>
              <a:t>NODE +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904487"/>
            <a:ext cx="21031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0" i="0">
                <a:solidFill>
                  <a:srgbClr val="1C242E"/>
                </a:solidFill>
                <a:latin typeface="Aptos"/>
              </a:rPr>
              <a:t>REST API
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375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3502152"/>
            <a:ext cx="21031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A73"/>
                </a:solidFill>
                <a:latin typeface="Aptos"/>
              </a:rPr>
              <a:t>MONGODB ATLAS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904487"/>
            <a:ext cx="21031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0" i="0">
                <a:solidFill>
                  <a:srgbClr val="1C242E"/>
                </a:solidFill>
                <a:latin typeface="Aptos"/>
              </a:rPr>
              <a:t>Users • portfolios
Orders •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581912"/>
            <a:ext cx="21031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UPSTOX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1984248"/>
            <a:ext cx="21031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0" i="0">
                <a:solidFill>
                  <a:srgbClr val="1C242E"/>
                </a:solidFill>
                <a:latin typeface="Aptos"/>
              </a:rPr>
              <a:t>Market quotes
Historical 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3017520"/>
            <a:ext cx="822959" cy="320040"/>
          </a:xfrm>
          <a:prstGeom prst="line">
            <a:avLst/>
          </a:prstGeom>
          <a:ln w="25400">
            <a:solidFill>
              <a:srgbClr val="23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66360" y="3950208"/>
            <a:ext cx="1234440" cy="0"/>
          </a:xfrm>
          <a:prstGeom prst="line">
            <a:avLst/>
          </a:prstGeom>
          <a:ln w="25400">
            <a:solidFill>
              <a:srgbClr val="00A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6360" y="2057400"/>
            <a:ext cx="1234440" cy="0"/>
          </a:xfrm>
          <a:prstGeom prst="line">
            <a:avLst/>
          </a:prstGeom>
          <a:ln w="25400">
            <a:solidFill>
              <a:srgbClr val="18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89520" y="2651760"/>
            <a:ext cx="0" cy="685800"/>
          </a:xfrm>
          <a:prstGeom prst="line">
            <a:avLst/>
          </a:prstGeom>
          <a:ln w="25400">
            <a:solidFill>
              <a:srgbClr val="23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0" y="4800600"/>
            <a:ext cx="1828800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2380DC"/>
                </a:solidFill>
                <a:latin typeface="Aptos"/>
              </a:rPr>
              <a:t>REST /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Functional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Major capabilities of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618488"/>
            <a:ext cx="502920" cy="50292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2763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1848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2199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Registration • Login •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618488"/>
            <a:ext cx="502920" cy="502920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2763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61848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MARKET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2199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Indices • Search • Stock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41732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2" y="1618488"/>
            <a:ext cx="502920" cy="502920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62763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161848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TRADING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22199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Buy / Sell •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3756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3538728"/>
            <a:ext cx="502920" cy="50292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54787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53872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14223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Holdings • Wallet • P&amp;L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33756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3538728"/>
            <a:ext cx="502920" cy="50292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54787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353872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14223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Orders • Transactions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3337560"/>
            <a:ext cx="338328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57032" y="3538728"/>
            <a:ext cx="502920" cy="502920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2" y="3547872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3538728"/>
            <a:ext cx="224028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112B48"/>
                </a:solidFill>
                <a:latin typeface="Aptos"/>
              </a:rP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4142232"/>
            <a:ext cx="292608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Watchlist • Performance • Journal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Database /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Conceptual MongoDB entities and ownership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userId • email • password
virtualBalance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58191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096"/>
                </a:solidFill>
                <a:latin typeface="Aptos"/>
              </a:rPr>
              <a:t>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8424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userId • holdings
averagePrice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417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58191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A73"/>
                </a:solidFill>
                <a:latin typeface="Apto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98424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orderId • symbol
quantity •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31927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18B4D2"/>
                </a:solidFill>
                <a:latin typeface="Aptos"/>
              </a:rPr>
              <a:t>WATCHLIST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72160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userId • symbols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1546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31927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72160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transactionId • userId
symbol • type • price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315468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3319272"/>
            <a:ext cx="301752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096"/>
                </a:solidFill>
                <a:latin typeface="Aptos"/>
              </a:rPr>
              <a:t>JOURNAL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3721608"/>
            <a:ext cx="301752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20" b="0" i="0">
                <a:solidFill>
                  <a:srgbClr val="1C242E"/>
                </a:solidFill>
                <a:latin typeface="Aptos"/>
              </a:rPr>
              <a:t>tradeId • reasoning
notes • timestamp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303520"/>
            <a:ext cx="8503920" cy="658368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850392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112B48"/>
                </a:solidFill>
                <a:latin typeface="Aptos"/>
              </a:rPr>
              <a:t>User identity acts as the ownership boundary for private trading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Simulated Trading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From stock selection to portfolio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Oval 7"/>
          <p:cNvSpPr/>
          <p:nvPr/>
        </p:nvSpPr>
        <p:spPr>
          <a:xfrm>
            <a:off x="1307592" y="1417320"/>
            <a:ext cx="594360" cy="59436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1426464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Select stock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47672" y="1719072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93591" y="1417320"/>
            <a:ext cx="594360" cy="594360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1" y="1426464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176272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Buy / Sell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33672" y="1719072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79592" y="1417320"/>
            <a:ext cx="594360" cy="59436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426464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176272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Enter quantity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9672" y="1719072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65592" y="1417320"/>
            <a:ext cx="594360" cy="594360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426464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176272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Validate order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05672" y="1719072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451592" y="1417320"/>
            <a:ext cx="594360" cy="59436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51592" y="1426464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176272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Execute simulation</a:t>
            </a:r>
          </a:p>
        </p:txBody>
      </p:sp>
      <p:sp>
        <p:nvSpPr>
          <p:cNvPr id="27" name="Oval 26"/>
          <p:cNvSpPr/>
          <p:nvPr/>
        </p:nvSpPr>
        <p:spPr>
          <a:xfrm>
            <a:off x="1307592" y="3291839"/>
            <a:ext cx="594360" cy="59436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" y="3300983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50791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Update wallet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47672" y="3593591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593591" y="3291839"/>
            <a:ext cx="594360" cy="594360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1" y="3300983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050791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Update portfolio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33672" y="3593591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879592" y="3291839"/>
            <a:ext cx="594360" cy="59436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3300983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050791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Record transaction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19672" y="3593591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165592" y="3291839"/>
            <a:ext cx="594360" cy="594360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3300983"/>
            <a:ext cx="594360" cy="57607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050791"/>
            <a:ext cx="18288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1" i="0">
                <a:solidFill>
                  <a:srgbClr val="112B48"/>
                </a:solidFill>
                <a:latin typeface="Aptos"/>
              </a:rPr>
              <a:t>Recalculate P&amp;L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05672" y="3593591"/>
            <a:ext cx="859536" cy="0"/>
          </a:xfrm>
          <a:prstGeom prst="line">
            <a:avLst/>
          </a:prstGeom>
          <a:ln w="25400">
            <a:solidFill>
              <a:srgbClr val="BEE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234440" y="5440680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5623560"/>
            <a:ext cx="969264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50" b="1" i="0">
                <a:solidFill>
                  <a:srgbClr val="2380DC"/>
                </a:solidFill>
                <a:latin typeface="Aptos"/>
              </a:rPr>
              <a:t>Every step is simulated; validation protects wallet and portfolio consistency.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Application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Recommended demo journey — replace placeholders with your actual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4447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105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4447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8105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6517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6792" y="14447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8105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STOCK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3716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5711" y="14447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1" y="18105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6517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TRADE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290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35021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8679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091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PORTFOLIO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4290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47872" y="35021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38679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79" y="47091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WATCHLIST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4290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36792" y="35021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8679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ORDER 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59" y="3429000"/>
            <a:ext cx="24871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25711" y="3502152"/>
            <a:ext cx="2340864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5711" y="3867912"/>
            <a:ext cx="2340864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2380DC"/>
                </a:solidFill>
                <a:latin typeface="Aptos"/>
              </a:rPr>
              <a:t>SCREENSHOT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4709160"/>
            <a:ext cx="2194560" cy="228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00" b="1" i="0">
                <a:solidFill>
                  <a:srgbClr val="112B48"/>
                </a:solidFill>
                <a:latin typeface="Aptos"/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806440"/>
            <a:ext cx="9235440" cy="3200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200" b="0" i="1">
                <a:solidFill>
                  <a:srgbClr val="5C6C7C"/>
                </a:solidFill>
                <a:latin typeface="Aptos"/>
              </a:rPr>
              <a:t>Tip: use real TradeLab screenshots here for the final faculty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Security &amp; 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Quality attributes that support a reliable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Password hashing • JWT • protected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2763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18B4D2"/>
                </a:solidFill>
                <a:latin typeface="Apto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7627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Optimized API and database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173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2763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A73"/>
                </a:solidFill>
                <a:latin typeface="Aptos"/>
              </a:rPr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7627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Graceful invalid-order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4787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00A096"/>
                </a:solidFill>
                <a:latin typeface="Aptos"/>
              </a:rPr>
              <a:t>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More users, stocks and competitions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3375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54787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2380DC"/>
                </a:solidFill>
                <a:latin typeface="Aptos"/>
              </a:rPr>
              <a:t>USABILITY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09651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Responsive and understandable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33375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3547872"/>
            <a:ext cx="3017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18B4D2"/>
                </a:solidFill>
                <a:latin typeface="Aptos"/>
              </a:rPr>
              <a:t>MAINTAINABILITY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4096512"/>
            <a:ext cx="3017520" cy="4572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130" b="0" i="0">
                <a:solidFill>
                  <a:srgbClr val="1C242E"/>
                </a:solidFill>
                <a:latin typeface="Aptos"/>
              </a:rPr>
              <a:t>Modular frontend, backend and business logic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MVP vs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Core functionality first; advanced functionality can follow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457200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000" b="1" i="0">
                <a:solidFill>
                  <a:srgbClr val="00AA73"/>
                </a:solidFill>
                <a:latin typeface="Aptos"/>
              </a:rPr>
              <a:t>MVP /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4572000" cy="38404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000" b="1" i="0">
                <a:solidFill>
                  <a:srgbClr val="2380DC"/>
                </a:solidFill>
                <a:latin typeface="Aptos"/>
              </a:rPr>
              <a:t>FUTURE / ADVANCED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Registration &amp;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Dashboard &amp; market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Stock search &amp;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Historical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Virtual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Buy / Sell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Portfolio &amp; P&amp;L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Order &amp; transaction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66360"/>
            <a:ext cx="457200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20" b="0" i="0">
                <a:solidFill>
                  <a:srgbClr val="1C242E"/>
                </a:solidFill>
                <a:latin typeface="Aptos"/>
              </a:rPr>
              <a:t>✓  Watchlist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4028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Limit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Stop-loss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20040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Trading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2044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Admin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4048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Trading journal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16052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Backtesting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8056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Challenges &amp; leaderboard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0060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Risk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12064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Technical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440680"/>
            <a:ext cx="457200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070" b="0" i="0">
                <a:solidFill>
                  <a:srgbClr val="1C242E"/>
                </a:solidFill>
                <a:latin typeface="Aptos"/>
              </a:rPr>
              <a:t>•  Historical market replay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84048"/>
            <a:ext cx="73152" cy="438912"/>
          </a:xfrm>
          <a:prstGeom prst="rect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411480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300" b="1" i="0">
                <a:solidFill>
                  <a:srgbClr val="2380DC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"/>
            <a:ext cx="8229600" cy="5029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700" b="1" i="0">
                <a:solidFill>
                  <a:srgbClr val="112B48"/>
                </a:solidFill>
                <a:latin typeface="Aptos"/>
              </a:rPr>
              <a:t>Expected Outcomes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04672"/>
            <a:ext cx="9875520" cy="292608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50" b="0" i="0">
                <a:solidFill>
                  <a:srgbClr val="5C6C7C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473952"/>
            <a:ext cx="3154680" cy="1828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r"/>
            <a:r>
              <a:rPr sz="850" b="0" i="0">
                <a:solidFill>
                  <a:srgbClr val="5C6C7C"/>
                </a:solidFill>
                <a:latin typeface="Aptos"/>
              </a:rPr>
              <a:t>TradeLab  •  Virtual Stock Market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DC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63624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9047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RISK-FREE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56231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Safe trading practice with virtual money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63624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9047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PRACTICAL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56231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Order, portfolio and P&amp;L concepts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34639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063239"/>
            <a:ext cx="502920" cy="50292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72383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99923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AUTOMATED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64991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Transactions and performance are recorded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34639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3063239"/>
            <a:ext cx="502920" cy="502920"/>
          </a:xfrm>
          <a:prstGeom prst="ellipse">
            <a:avLst/>
          </a:prstGeom>
          <a:solidFill>
            <a:srgbClr val="00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72383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99923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REAL MARKET-DATA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64991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Application connects to market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434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4572000"/>
            <a:ext cx="502920" cy="502920"/>
          </a:xfrm>
          <a:prstGeom prst="ellipse">
            <a:avLst/>
          </a:prstGeom>
          <a:solidFill>
            <a:srgbClr val="18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81144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50799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FULL-STACK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873752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Frontend, APIs, backend and database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34340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23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81144"/>
            <a:ext cx="502920" cy="484632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3977639" cy="2743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250" b="1" i="0">
                <a:solidFill>
                  <a:srgbClr val="112B48"/>
                </a:solidFill>
                <a:latin typeface="Aptos"/>
              </a:rPr>
              <a:t>FUTURE-READY 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73752"/>
            <a:ext cx="3977639" cy="3657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110" b="0" i="0">
                <a:solidFill>
                  <a:srgbClr val="5C6C7C"/>
                </a:solidFill>
                <a:latin typeface="Aptos"/>
              </a:rPr>
              <a:t>Basis for advanced analytics and challenges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5806440"/>
            <a:ext cx="15087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833872"/>
            <a:ext cx="15087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FINANCE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20440" y="5806440"/>
            <a:ext cx="15087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5833872"/>
            <a:ext cx="15087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WEB DEVELOPMENT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806440"/>
            <a:ext cx="15087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5833872"/>
            <a:ext cx="15087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APIs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5806440"/>
            <a:ext cx="15087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833872"/>
            <a:ext cx="15087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DATABASE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5806440"/>
            <a:ext cx="1508760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5833872"/>
            <a:ext cx="1508760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731520"/>
            <a:ext cx="6400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5303520" cy="59436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3400" b="1" i="0">
                <a:solidFill>
                  <a:srgbClr val="00AA73"/>
                </a:solidFill>
                <a:latin typeface="Aptos"/>
              </a:rPr>
              <a:t>TradeLab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5394960" cy="137160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2500" b="1" i="0">
                <a:solidFill>
                  <a:srgbClr val="112B48"/>
                </a:solidFill>
                <a:latin typeface="Aptos"/>
              </a:rPr>
              <a:t>Learn the market.
Practice the workflow.
Measure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03320"/>
            <a:ext cx="5303520" cy="96012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l"/>
            <a:r>
              <a:rPr sz="1400" b="0" i="0">
                <a:solidFill>
                  <a:srgbClr val="5C6C7C"/>
                </a:solidFill>
                <a:latin typeface="Aptos"/>
              </a:rPr>
              <a:t>A complete virtual trading environment demonstrating full-stack development, API integration, authentication, database management and trading business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892040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1947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4892040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491947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096" y="4892040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6" y="491947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394959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2239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TRADE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4328" y="5394959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542239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5394959"/>
            <a:ext cx="1353312" cy="329184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5422392"/>
            <a:ext cx="1353312" cy="246888"/>
          </a:xfrm>
          <a:prstGeom prst="rect">
            <a:avLst/>
          </a:prstGeom>
          <a:noFill/>
        </p:spPr>
        <p:txBody>
          <a:bodyPr wrap="square" anchor="ctr" lIns="32004" rIns="32004" tIns="32004" bIns="32004">
            <a:spAutoFit/>
          </a:bodyPr>
          <a:lstStyle/>
          <a:p>
            <a:pPr algn="ctr"/>
            <a:r>
              <a:rPr sz="1050" b="1" i="0">
                <a:solidFill>
                  <a:srgbClr val="2380DC"/>
                </a:solidFill>
                <a:latin typeface="Aptos"/>
              </a:rPr>
              <a:t>P&amp;L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11680"/>
            <a:ext cx="3474720" cy="54864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3000" b="1" i="0">
                <a:solidFill>
                  <a:srgbClr val="2380DC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88920"/>
            <a:ext cx="4023360" cy="411480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700" b="1" i="0">
                <a:solidFill>
                  <a:srgbClr val="112B48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172200"/>
            <a:ext cx="4297680" cy="256032"/>
          </a:xfrm>
          <a:prstGeom prst="rect">
            <a:avLst/>
          </a:prstGeom>
          <a:noFill/>
        </p:spPr>
        <p:txBody>
          <a:bodyPr wrap="square" anchor="t" lIns="32004" rIns="32004" tIns="32004" bIns="32004">
            <a:spAutoFit/>
          </a:bodyPr>
          <a:lstStyle/>
          <a:p>
            <a:pPr algn="ctr"/>
            <a:r>
              <a:rPr sz="1000" b="0" i="0">
                <a:solidFill>
                  <a:srgbClr val="5C6C7C"/>
                </a:solidFill>
                <a:latin typeface="Aptos"/>
              </a:rPr>
              <a:t>TradeLab • Virtual Stock Market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