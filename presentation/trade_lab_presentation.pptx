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pto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44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mahavar28@gmail.com" userId="38b9160e7b5616d0" providerId="LiveId" clId="{C87C1BCB-5F7F-478E-8D3B-D305863B02FF}"/>
    <pc:docChg chg="modSld">
      <pc:chgData name="harshmahavar28@gmail.com" userId="38b9160e7b5616d0" providerId="LiveId" clId="{C87C1BCB-5F7F-478E-8D3B-D305863B02FF}" dt="2026-09-29T10:51:11.141" v="63" actId="1038"/>
      <pc:docMkLst>
        <pc:docMk/>
      </pc:docMkLst>
      <pc:sldChg chg="modSp mod">
        <pc:chgData name="harshmahavar28@gmail.com" userId="38b9160e7b5616d0" providerId="LiveId" clId="{C87C1BCB-5F7F-478E-8D3B-D305863B02FF}" dt="2026-09-29T10:51:11.141" v="63" actId="1038"/>
        <pc:sldMkLst>
          <pc:docMk/>
          <pc:sldMk cId="0" sldId="256"/>
        </pc:sldMkLst>
        <pc:grpChg chg="mod">
          <ac:chgData name="harshmahavar28@gmail.com" userId="38b9160e7b5616d0" providerId="LiveId" clId="{C87C1BCB-5F7F-478E-8D3B-D305863B02FF}" dt="2026-09-29T10:51:11.141" v="63" actId="1038"/>
          <ac:grpSpMkLst>
            <pc:docMk/>
            <pc:sldMk cId="0" sldId="256"/>
            <ac:grpSpMk id="2" creationId="{00000000-0000-0000-0000-000000000000}"/>
          </ac:grpSpMkLst>
        </pc:grpChg>
      </pc:sldChg>
      <pc:sldChg chg="modSp mod">
        <pc:chgData name="harshmahavar28@gmail.com" userId="38b9160e7b5616d0" providerId="LiveId" clId="{C87C1BCB-5F7F-478E-8D3B-D305863B02FF}" dt="2026-09-29T08:42:20.594" v="62" actId="1037"/>
        <pc:sldMkLst>
          <pc:docMk/>
          <pc:sldMk cId="0" sldId="266"/>
        </pc:sldMkLst>
        <pc:spChg chg="mod">
          <ac:chgData name="harshmahavar28@gmail.com" userId="38b9160e7b5616d0" providerId="LiveId" clId="{C87C1BCB-5F7F-478E-8D3B-D305863B02FF}" dt="2026-09-29T08:42:10.934" v="58" actId="20577"/>
          <ac:spMkLst>
            <pc:docMk/>
            <pc:sldMk cId="0" sldId="266"/>
            <ac:spMk id="82" creationId="{00000000-0000-0000-0000-000000000000}"/>
          </ac:spMkLst>
        </pc:spChg>
        <pc:grpChg chg="mod">
          <ac:chgData name="harshmahavar28@gmail.com" userId="38b9160e7b5616d0" providerId="LiveId" clId="{C87C1BCB-5F7F-478E-8D3B-D305863B02FF}" dt="2026-09-29T08:42:20.594" v="62" actId="1037"/>
          <ac:grpSpMkLst>
            <pc:docMk/>
            <pc:sldMk cId="0" sldId="266"/>
            <ac:grpSpMk id="2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03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1656" y="954195"/>
            <a:ext cx="8729815" cy="7631678"/>
            <a:chOff x="0" y="0"/>
            <a:chExt cx="11639753" cy="101755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39803" cy="10175621"/>
            </a:xfrm>
            <a:custGeom>
              <a:avLst/>
              <a:gdLst/>
              <a:ahLst/>
              <a:cxnLst/>
              <a:rect l="l" t="t" r="r" b="b"/>
              <a:pathLst>
                <a:path w="11639803" h="10175621">
                  <a:moveTo>
                    <a:pt x="0" y="1695958"/>
                  </a:moveTo>
                  <a:cubicBezTo>
                    <a:pt x="0" y="759333"/>
                    <a:pt x="759333" y="0"/>
                    <a:pt x="1695958" y="0"/>
                  </a:cubicBezTo>
                  <a:lnTo>
                    <a:pt x="9943846" y="0"/>
                  </a:lnTo>
                  <a:cubicBezTo>
                    <a:pt x="10880471" y="0"/>
                    <a:pt x="11639803" y="759333"/>
                    <a:pt x="11639803" y="1695958"/>
                  </a:cubicBezTo>
                  <a:lnTo>
                    <a:pt x="11639803" y="8479663"/>
                  </a:lnTo>
                  <a:cubicBezTo>
                    <a:pt x="11639803" y="9416288"/>
                    <a:pt x="10880471" y="10175621"/>
                    <a:pt x="9943846" y="10175621"/>
                  </a:cubicBezTo>
                  <a:lnTo>
                    <a:pt x="1695958" y="10175621"/>
                  </a:lnTo>
                  <a:cubicBezTo>
                    <a:pt x="759333" y="10175621"/>
                    <a:pt x="0" y="9416288"/>
                    <a:pt x="0" y="847966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400127" y="1400127"/>
            <a:ext cx="5010255" cy="466706"/>
            <a:chOff x="0" y="0"/>
            <a:chExt cx="6680340" cy="6222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80327" cy="622300"/>
            </a:xfrm>
            <a:custGeom>
              <a:avLst/>
              <a:gdLst/>
              <a:ahLst/>
              <a:cxnLst/>
              <a:rect l="l" t="t" r="r" b="b"/>
              <a:pathLst>
                <a:path w="6680327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6576568" y="0"/>
                  </a:lnTo>
                  <a:cubicBezTo>
                    <a:pt x="6633845" y="0"/>
                    <a:pt x="6680327" y="46482"/>
                    <a:pt x="6680327" y="103759"/>
                  </a:cubicBezTo>
                  <a:lnTo>
                    <a:pt x="6680327" y="518541"/>
                  </a:lnTo>
                  <a:cubicBezTo>
                    <a:pt x="6680327" y="575818"/>
                    <a:pt x="6633845" y="622300"/>
                    <a:pt x="6576568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00127" y="1413853"/>
            <a:ext cx="5010255" cy="384353"/>
            <a:chOff x="0" y="0"/>
            <a:chExt cx="6680340" cy="5124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80339" cy="512464"/>
            </a:xfrm>
            <a:custGeom>
              <a:avLst/>
              <a:gdLst/>
              <a:ahLst/>
              <a:cxnLst/>
              <a:rect l="l" t="t" r="r" b="b"/>
              <a:pathLst>
                <a:path w="6680339" h="512464">
                  <a:moveTo>
                    <a:pt x="0" y="0"/>
                  </a:moveTo>
                  <a:lnTo>
                    <a:pt x="6680339" y="0"/>
                  </a:lnTo>
                  <a:lnTo>
                    <a:pt x="668033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000" b="-20400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668034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FULL STACK DEVELOPMENT • SEMESTER PROJECT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00127" y="2127647"/>
            <a:ext cx="7686961" cy="960872"/>
            <a:chOff x="0" y="0"/>
            <a:chExt cx="10249281" cy="12811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9288" cy="1281161"/>
            </a:xfrm>
            <a:custGeom>
              <a:avLst/>
              <a:gdLst/>
              <a:ahLst/>
              <a:cxnLst/>
              <a:rect l="l" t="t" r="r" b="b"/>
              <a:pathLst>
                <a:path w="10249288" h="1281161">
                  <a:moveTo>
                    <a:pt x="0" y="0"/>
                  </a:moveTo>
                  <a:lnTo>
                    <a:pt x="10249288" y="0"/>
                  </a:lnTo>
                  <a:lnTo>
                    <a:pt x="10249288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249281" cy="129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25"/>
                </a:lnSpc>
              </a:pPr>
              <a:r>
                <a:rPr lang="en-US" sz="5854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0127" y="3157147"/>
            <a:ext cx="7824235" cy="1647206"/>
            <a:chOff x="0" y="0"/>
            <a:chExt cx="10432313" cy="21962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32311" cy="2196276"/>
            </a:xfrm>
            <a:custGeom>
              <a:avLst/>
              <a:gdLst/>
              <a:ahLst/>
              <a:cxnLst/>
              <a:rect l="l" t="t" r="r" b="b"/>
              <a:pathLst>
                <a:path w="10432311" h="2196276">
                  <a:moveTo>
                    <a:pt x="0" y="0"/>
                  </a:moveTo>
                  <a:lnTo>
                    <a:pt x="10432311" y="0"/>
                  </a:lnTo>
                  <a:lnTo>
                    <a:pt x="10432311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53" b="-4255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0432313" cy="21962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Virtual Stock Market</a:t>
              </a:r>
            </a:p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Trading Platform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13853" y="5106343"/>
            <a:ext cx="7618333" cy="1166774"/>
            <a:chOff x="0" y="0"/>
            <a:chExt cx="10157778" cy="15556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57776" cy="1555695"/>
            </a:xfrm>
            <a:custGeom>
              <a:avLst/>
              <a:gdLst/>
              <a:ahLst/>
              <a:cxnLst/>
              <a:rect l="l" t="t" r="r" b="b"/>
              <a:pathLst>
                <a:path w="10157776" h="1555695">
                  <a:moveTo>
                    <a:pt x="0" y="0"/>
                  </a:moveTo>
                  <a:lnTo>
                    <a:pt x="10157776" y="0"/>
                  </a:lnTo>
                  <a:lnTo>
                    <a:pt x="10157776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225" b="-772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0157778" cy="1555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A full-stack platform for practicing stock trading with virtual money — without real financial risk.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13853" y="6657461"/>
            <a:ext cx="1304039" cy="466706"/>
            <a:chOff x="0" y="0"/>
            <a:chExt cx="1738719" cy="6222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38757" cy="622300"/>
            </a:xfrm>
            <a:custGeom>
              <a:avLst/>
              <a:gdLst/>
              <a:ahLst/>
              <a:cxnLst/>
              <a:rect l="l" t="t" r="r" b="b"/>
              <a:pathLst>
                <a:path w="1738757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634998" y="0"/>
                  </a:lnTo>
                  <a:cubicBezTo>
                    <a:pt x="1692275" y="0"/>
                    <a:pt x="1738757" y="46482"/>
                    <a:pt x="1738757" y="103759"/>
                  </a:cubicBezTo>
                  <a:lnTo>
                    <a:pt x="1738757" y="518541"/>
                  </a:lnTo>
                  <a:cubicBezTo>
                    <a:pt x="1738757" y="575818"/>
                    <a:pt x="1692275" y="622300"/>
                    <a:pt x="1634998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413853" y="6671186"/>
            <a:ext cx="1304039" cy="384353"/>
            <a:chOff x="0" y="0"/>
            <a:chExt cx="1738719" cy="5124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38718" cy="512464"/>
            </a:xfrm>
            <a:custGeom>
              <a:avLst/>
              <a:gdLst/>
              <a:ahLst/>
              <a:cxnLst/>
              <a:rect l="l" t="t" r="r" b="b"/>
              <a:pathLst>
                <a:path w="1738718" h="512464">
                  <a:moveTo>
                    <a:pt x="0" y="0"/>
                  </a:moveTo>
                  <a:lnTo>
                    <a:pt x="1738718" y="0"/>
                  </a:lnTo>
                  <a:lnTo>
                    <a:pt x="173871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1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738719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55157" y="6657461"/>
            <a:ext cx="1990373" cy="466706"/>
            <a:chOff x="0" y="0"/>
            <a:chExt cx="2653830" cy="6222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3919" cy="622300"/>
            </a:xfrm>
            <a:custGeom>
              <a:avLst/>
              <a:gdLst/>
              <a:ahLst/>
              <a:cxnLst/>
              <a:rect l="l" t="t" r="r" b="b"/>
              <a:pathLst>
                <a:path w="2653919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550160" y="0"/>
                  </a:lnTo>
                  <a:cubicBezTo>
                    <a:pt x="2607437" y="0"/>
                    <a:pt x="2653919" y="46482"/>
                    <a:pt x="2653919" y="103759"/>
                  </a:cubicBezTo>
                  <a:lnTo>
                    <a:pt x="2653919" y="518541"/>
                  </a:lnTo>
                  <a:cubicBezTo>
                    <a:pt x="2653919" y="575818"/>
                    <a:pt x="2607437" y="622300"/>
                    <a:pt x="2550160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2855157" y="6671186"/>
            <a:ext cx="1990373" cy="384353"/>
            <a:chOff x="0" y="0"/>
            <a:chExt cx="2653830" cy="5124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53833" cy="512464"/>
            </a:xfrm>
            <a:custGeom>
              <a:avLst/>
              <a:gdLst/>
              <a:ahLst/>
              <a:cxnLst/>
              <a:rect l="l" t="t" r="r" b="b"/>
              <a:pathLst>
                <a:path w="2653833" h="512464">
                  <a:moveTo>
                    <a:pt x="0" y="0"/>
                  </a:moveTo>
                  <a:lnTo>
                    <a:pt x="2653833" y="0"/>
                  </a:lnTo>
                  <a:lnTo>
                    <a:pt x="265383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903" b="-5090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65383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NODE + EXPRESS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82804" y="6657461"/>
            <a:ext cx="1647206" cy="466706"/>
            <a:chOff x="0" y="0"/>
            <a:chExt cx="2196274" cy="6222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6338" cy="622300"/>
            </a:xfrm>
            <a:custGeom>
              <a:avLst/>
              <a:gdLst/>
              <a:ahLst/>
              <a:cxnLst/>
              <a:rect l="l" t="t" r="r" b="b"/>
              <a:pathLst>
                <a:path w="2196338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092579" y="0"/>
                  </a:lnTo>
                  <a:cubicBezTo>
                    <a:pt x="2149856" y="0"/>
                    <a:pt x="2196338" y="46482"/>
                    <a:pt x="2196338" y="103759"/>
                  </a:cubicBezTo>
                  <a:lnTo>
                    <a:pt x="2196338" y="518541"/>
                  </a:lnTo>
                  <a:cubicBezTo>
                    <a:pt x="2196338" y="575818"/>
                    <a:pt x="2149856" y="622300"/>
                    <a:pt x="2092579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982804" y="6671186"/>
            <a:ext cx="1647206" cy="384353"/>
            <a:chOff x="0" y="0"/>
            <a:chExt cx="2196274" cy="5124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96276" cy="512464"/>
            </a:xfrm>
            <a:custGeom>
              <a:avLst/>
              <a:gdLst/>
              <a:ahLst/>
              <a:cxnLst/>
              <a:rect l="l" t="t" r="r" b="b"/>
              <a:pathLst>
                <a:path w="2196276" h="512464">
                  <a:moveTo>
                    <a:pt x="0" y="0"/>
                  </a:moveTo>
                  <a:lnTo>
                    <a:pt x="2196276" y="0"/>
                  </a:lnTo>
                  <a:lnTo>
                    <a:pt x="219627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6" b="-3350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196274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MONGODB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67274" y="6657461"/>
            <a:ext cx="1784471" cy="466706"/>
            <a:chOff x="0" y="0"/>
            <a:chExt cx="2379294" cy="6222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79345" cy="622300"/>
            </a:xfrm>
            <a:custGeom>
              <a:avLst/>
              <a:gdLst/>
              <a:ahLst/>
              <a:cxnLst/>
              <a:rect l="l" t="t" r="r" b="b"/>
              <a:pathLst>
                <a:path w="2379345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275586" y="0"/>
                  </a:lnTo>
                  <a:cubicBezTo>
                    <a:pt x="2332863" y="0"/>
                    <a:pt x="2379345" y="46482"/>
                    <a:pt x="2379345" y="103759"/>
                  </a:cubicBezTo>
                  <a:lnTo>
                    <a:pt x="2379345" y="518541"/>
                  </a:lnTo>
                  <a:cubicBezTo>
                    <a:pt x="2379345" y="575818"/>
                    <a:pt x="2332863" y="622300"/>
                    <a:pt x="227558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767274" y="6671186"/>
            <a:ext cx="1784471" cy="384353"/>
            <a:chOff x="0" y="0"/>
            <a:chExt cx="2379294" cy="5124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379299" cy="512464"/>
            </a:xfrm>
            <a:custGeom>
              <a:avLst/>
              <a:gdLst/>
              <a:ahLst/>
              <a:cxnLst/>
              <a:rect l="l" t="t" r="r" b="b"/>
              <a:pathLst>
                <a:path w="2379299" h="512464">
                  <a:moveTo>
                    <a:pt x="0" y="0"/>
                  </a:moveTo>
                  <a:lnTo>
                    <a:pt x="2379299" y="0"/>
                  </a:lnTo>
                  <a:lnTo>
                    <a:pt x="237929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" b="-4046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379294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UPSTOX API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Statement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Why a safe and integrated trading simulator is needed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1470" y="2258235"/>
            <a:ext cx="4886335" cy="2827325"/>
            <a:chOff x="0" y="0"/>
            <a:chExt cx="6515113" cy="37697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15100" cy="3769741"/>
            </a:xfrm>
            <a:custGeom>
              <a:avLst/>
              <a:gdLst/>
              <a:ahLst/>
              <a:cxnLst/>
              <a:rect l="l" t="t" r="r" b="b"/>
              <a:pathLst>
                <a:path w="6515100" h="376974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5886831" y="0"/>
                  </a:lnTo>
                  <a:cubicBezTo>
                    <a:pt x="6233795" y="0"/>
                    <a:pt x="6515100" y="281305"/>
                    <a:pt x="6515100" y="628269"/>
                  </a:cubicBezTo>
                  <a:lnTo>
                    <a:pt x="6515100" y="3141472"/>
                  </a:lnTo>
                  <a:cubicBezTo>
                    <a:pt x="6515100" y="3488436"/>
                    <a:pt x="6233795" y="3769741"/>
                    <a:pt x="5886831" y="3769741"/>
                  </a:cubicBezTo>
                  <a:lnTo>
                    <a:pt x="628269" y="3769741"/>
                  </a:lnTo>
                  <a:cubicBezTo>
                    <a:pt x="281305" y="3769741"/>
                    <a:pt x="0" y="3488436"/>
                    <a:pt x="0" y="314147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45216" y="2457088"/>
            <a:ext cx="4392549" cy="384348"/>
            <a:chOff x="0" y="0"/>
            <a:chExt cx="5856732" cy="512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56734" cy="512458"/>
            </a:xfrm>
            <a:custGeom>
              <a:avLst/>
              <a:gdLst/>
              <a:ahLst/>
              <a:cxnLst/>
              <a:rect l="l" t="t" r="r" b="b"/>
              <a:pathLst>
                <a:path w="5856734" h="512458">
                  <a:moveTo>
                    <a:pt x="0" y="0"/>
                  </a:moveTo>
                  <a:lnTo>
                    <a:pt x="5856734" y="0"/>
                  </a:lnTo>
                  <a:lnTo>
                    <a:pt x="5856734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7" b="-17268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5856732" cy="512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D547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  FINANCIAL RISK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45216" y="3019882"/>
            <a:ext cx="4392549" cy="1921745"/>
            <a:chOff x="0" y="0"/>
            <a:chExt cx="5856732" cy="25623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56734" cy="2562322"/>
            </a:xfrm>
            <a:custGeom>
              <a:avLst/>
              <a:gdLst/>
              <a:ahLst/>
              <a:cxnLst/>
              <a:rect l="l" t="t" r="r" b="b"/>
              <a:pathLst>
                <a:path w="5856734" h="2562322">
                  <a:moveTo>
                    <a:pt x="0" y="0"/>
                  </a:moveTo>
                  <a:lnTo>
                    <a:pt x="5856734" y="0"/>
                  </a:lnTo>
                  <a:lnTo>
                    <a:pt x="5856734" y="2562322"/>
                  </a:lnTo>
                  <a:lnTo>
                    <a:pt x="0" y="256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r="-613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856732" cy="2562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Real trading requires capital, and beginner mistakes can cause real losses.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1470" y="5415382"/>
            <a:ext cx="4886335" cy="2827325"/>
            <a:chOff x="0" y="0"/>
            <a:chExt cx="6515113" cy="37697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15100" cy="3769741"/>
            </a:xfrm>
            <a:custGeom>
              <a:avLst/>
              <a:gdLst/>
              <a:ahLst/>
              <a:cxnLst/>
              <a:rect l="l" t="t" r="r" b="b"/>
              <a:pathLst>
                <a:path w="6515100" h="376974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5886831" y="0"/>
                  </a:lnTo>
                  <a:cubicBezTo>
                    <a:pt x="6233795" y="0"/>
                    <a:pt x="6515100" y="281305"/>
                    <a:pt x="6515100" y="628269"/>
                  </a:cubicBezTo>
                  <a:lnTo>
                    <a:pt x="6515100" y="3141472"/>
                  </a:lnTo>
                  <a:cubicBezTo>
                    <a:pt x="6515100" y="3488436"/>
                    <a:pt x="6233795" y="3769741"/>
                    <a:pt x="5886831" y="3769741"/>
                  </a:cubicBezTo>
                  <a:lnTo>
                    <a:pt x="628269" y="3769741"/>
                  </a:lnTo>
                  <a:cubicBezTo>
                    <a:pt x="281305" y="3769741"/>
                    <a:pt x="0" y="3488436"/>
                    <a:pt x="0" y="314147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45216" y="5614225"/>
            <a:ext cx="4392549" cy="384353"/>
            <a:chOff x="0" y="0"/>
            <a:chExt cx="5856732" cy="5124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56734" cy="512464"/>
            </a:xfrm>
            <a:custGeom>
              <a:avLst/>
              <a:gdLst/>
              <a:ahLst/>
              <a:cxnLst/>
              <a:rect l="l" t="t" r="r" b="b"/>
              <a:pathLst>
                <a:path w="5856734" h="512464">
                  <a:moveTo>
                    <a:pt x="0" y="0"/>
                  </a:moveTo>
                  <a:lnTo>
                    <a:pt x="5856734" y="0"/>
                  </a:lnTo>
                  <a:lnTo>
                    <a:pt x="585673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5" b="-17268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 LIMITED PRACTICE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45216" y="6177029"/>
            <a:ext cx="4392549" cy="1921745"/>
            <a:chOff x="0" y="0"/>
            <a:chExt cx="5856732" cy="256232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856734" cy="2562322"/>
            </a:xfrm>
            <a:custGeom>
              <a:avLst/>
              <a:gdLst/>
              <a:ahLst/>
              <a:cxnLst/>
              <a:rect l="l" t="t" r="r" b="b"/>
              <a:pathLst>
                <a:path w="5856734" h="2562322">
                  <a:moveTo>
                    <a:pt x="0" y="0"/>
                  </a:moveTo>
                  <a:lnTo>
                    <a:pt x="5856734" y="0"/>
                  </a:lnTo>
                  <a:lnTo>
                    <a:pt x="5856734" y="2562322"/>
                  </a:lnTo>
                  <a:lnTo>
                    <a:pt x="0" y="256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r="-613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856732" cy="2562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Theory explains concepts, but users need practical experience with orders and portfolios.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76254" y="2807303"/>
            <a:ext cx="4886335" cy="2827325"/>
            <a:chOff x="0" y="0"/>
            <a:chExt cx="6515113" cy="376976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515100" cy="3769741"/>
            </a:xfrm>
            <a:custGeom>
              <a:avLst/>
              <a:gdLst/>
              <a:ahLst/>
              <a:cxnLst/>
              <a:rect l="l" t="t" r="r" b="b"/>
              <a:pathLst>
                <a:path w="6515100" h="376974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5886831" y="0"/>
                  </a:lnTo>
                  <a:cubicBezTo>
                    <a:pt x="6233795" y="0"/>
                    <a:pt x="6515100" y="281305"/>
                    <a:pt x="6515100" y="628269"/>
                  </a:cubicBezTo>
                  <a:lnTo>
                    <a:pt x="6515100" y="3141472"/>
                  </a:lnTo>
                  <a:cubicBezTo>
                    <a:pt x="6515100" y="3488436"/>
                    <a:pt x="6233795" y="3769741"/>
                    <a:pt x="5886831" y="3769741"/>
                  </a:cubicBezTo>
                  <a:lnTo>
                    <a:pt x="628269" y="3769741"/>
                  </a:lnTo>
                  <a:cubicBezTo>
                    <a:pt x="281305" y="3769741"/>
                    <a:pt x="0" y="3488436"/>
                    <a:pt x="0" y="314147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630010" y="3006157"/>
            <a:ext cx="4392549" cy="384353"/>
            <a:chOff x="0" y="0"/>
            <a:chExt cx="5856732" cy="51247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856734" cy="512464"/>
            </a:xfrm>
            <a:custGeom>
              <a:avLst/>
              <a:gdLst/>
              <a:ahLst/>
              <a:cxnLst/>
              <a:rect l="l" t="t" r="r" b="b"/>
              <a:pathLst>
                <a:path w="5856734" h="512464">
                  <a:moveTo>
                    <a:pt x="0" y="0"/>
                  </a:moveTo>
                  <a:lnTo>
                    <a:pt x="5856734" y="0"/>
                  </a:lnTo>
                  <a:lnTo>
                    <a:pt x="585673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5" b="-172686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 DISCONNECTED EXPERIENCE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30010" y="3568951"/>
            <a:ext cx="4392549" cy="1921745"/>
            <a:chOff x="0" y="0"/>
            <a:chExt cx="5856732" cy="25623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856734" cy="2562322"/>
            </a:xfrm>
            <a:custGeom>
              <a:avLst/>
              <a:gdLst/>
              <a:ahLst/>
              <a:cxnLst/>
              <a:rect l="l" t="t" r="r" b="b"/>
              <a:pathLst>
                <a:path w="5856734" h="2562322">
                  <a:moveTo>
                    <a:pt x="0" y="0"/>
                  </a:moveTo>
                  <a:lnTo>
                    <a:pt x="5856734" y="0"/>
                  </a:lnTo>
                  <a:lnTo>
                    <a:pt x="5856734" y="2562322"/>
                  </a:lnTo>
                  <a:lnTo>
                    <a:pt x="0" y="256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r="-613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856732" cy="2562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Market data, charts, trades and performance are often experienced separately.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1470" y="8776106"/>
            <a:ext cx="1372676" cy="480431"/>
            <a:chOff x="0" y="0"/>
            <a:chExt cx="1830235" cy="6405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830230" cy="640580"/>
            </a:xfrm>
            <a:custGeom>
              <a:avLst/>
              <a:gdLst/>
              <a:ahLst/>
              <a:cxnLst/>
              <a:rect l="l" t="t" r="r" b="b"/>
              <a:pathLst>
                <a:path w="1830230" h="640580">
                  <a:moveTo>
                    <a:pt x="0" y="0"/>
                  </a:moveTo>
                  <a:lnTo>
                    <a:pt x="1830230" y="0"/>
                  </a:lnTo>
                  <a:lnTo>
                    <a:pt x="183023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2" b="-567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830235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 →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464146" y="8590793"/>
            <a:ext cx="7137892" cy="851059"/>
            <a:chOff x="0" y="0"/>
            <a:chExt cx="9517190" cy="113474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517195" cy="1134743"/>
            </a:xfrm>
            <a:custGeom>
              <a:avLst/>
              <a:gdLst/>
              <a:ahLst/>
              <a:cxnLst/>
              <a:rect l="l" t="t" r="r" b="b"/>
              <a:pathLst>
                <a:path w="9517195" h="1134743">
                  <a:moveTo>
                    <a:pt x="0" y="0"/>
                  </a:moveTo>
                  <a:lnTo>
                    <a:pt x="9517195" y="0"/>
                  </a:lnTo>
                  <a:lnTo>
                    <a:pt x="9517195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422" b="-11342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9517190" cy="1144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safe, interactive and realistic environment for practicing the complete trading workflow.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Solution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One platform connecting market data, simulated trading and portfolio management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264912"/>
            <a:ext cx="3019882" cy="617706"/>
            <a:chOff x="0" y="0"/>
            <a:chExt cx="4026510" cy="8236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26506" cy="823603"/>
            </a:xfrm>
            <a:custGeom>
              <a:avLst/>
              <a:gdLst/>
              <a:ahLst/>
              <a:cxnLst/>
              <a:rect l="l" t="t" r="r" b="b"/>
              <a:pathLst>
                <a:path w="4026506" h="823603">
                  <a:moveTo>
                    <a:pt x="0" y="0"/>
                  </a:moveTo>
                  <a:lnTo>
                    <a:pt x="4026506" y="0"/>
                  </a:lnTo>
                  <a:lnTo>
                    <a:pt x="402650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4026510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7951" y="2910068"/>
            <a:ext cx="9196902" cy="1166774"/>
            <a:chOff x="0" y="0"/>
            <a:chExt cx="12262536" cy="15556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262540" cy="1555695"/>
            </a:xfrm>
            <a:custGeom>
              <a:avLst/>
              <a:gdLst/>
              <a:ahLst/>
              <a:cxnLst/>
              <a:rect l="l" t="t" r="r" b="b"/>
              <a:pathLst>
                <a:path w="12262540" h="1555695">
                  <a:moveTo>
                    <a:pt x="0" y="0"/>
                  </a:moveTo>
                  <a:lnTo>
                    <a:pt x="12262540" y="0"/>
                  </a:lnTo>
                  <a:lnTo>
                    <a:pt x="12262540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87" b="-10358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2262536" cy="1555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Users receive virtual capital, access market data, simulate orders, manage holdings and evaluate performance.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0097" y="4454509"/>
            <a:ext cx="4131364" cy="1729188"/>
            <a:chOff x="0" y="0"/>
            <a:chExt cx="5508485" cy="23055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08498" cy="2305558"/>
            </a:xfrm>
            <a:custGeom>
              <a:avLst/>
              <a:gdLst/>
              <a:ahLst/>
              <a:cxnLst/>
              <a:rect l="l" t="t" r="r" b="b"/>
              <a:pathLst>
                <a:path w="5508498" h="2305558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5124196" y="0"/>
                  </a:lnTo>
                  <a:cubicBezTo>
                    <a:pt x="5336413" y="0"/>
                    <a:pt x="5508498" y="172085"/>
                    <a:pt x="5508498" y="384302"/>
                  </a:cubicBezTo>
                  <a:lnTo>
                    <a:pt x="5508498" y="1921256"/>
                  </a:lnTo>
                  <a:cubicBezTo>
                    <a:pt x="5508498" y="2133473"/>
                    <a:pt x="5336413" y="2305558"/>
                    <a:pt x="5124196" y="2305558"/>
                  </a:cubicBezTo>
                  <a:lnTo>
                    <a:pt x="384302" y="2305558"/>
                  </a:lnTo>
                  <a:cubicBezTo>
                    <a:pt x="172085" y="2305558"/>
                    <a:pt x="0" y="2133600"/>
                    <a:pt x="0" y="192125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13853" y="4653363"/>
            <a:ext cx="3637578" cy="384353"/>
            <a:chOff x="0" y="0"/>
            <a:chExt cx="4850105" cy="5124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50109" cy="512464"/>
            </a:xfrm>
            <a:custGeom>
              <a:avLst/>
              <a:gdLst/>
              <a:ahLst/>
              <a:cxnLst/>
              <a:rect l="l" t="t" r="r" b="b"/>
              <a:pathLst>
                <a:path w="4850109" h="512464">
                  <a:moveTo>
                    <a:pt x="0" y="0"/>
                  </a:moveTo>
                  <a:lnTo>
                    <a:pt x="4850109" y="0"/>
                  </a:lnTo>
                  <a:lnTo>
                    <a:pt x="485010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11" b="-13441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 DATA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13853" y="5216157"/>
            <a:ext cx="3637578" cy="823608"/>
            <a:chOff x="0" y="0"/>
            <a:chExt cx="4850105" cy="10981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50109" cy="1098138"/>
            </a:xfrm>
            <a:custGeom>
              <a:avLst/>
              <a:gdLst/>
              <a:ahLst/>
              <a:cxnLst/>
              <a:rect l="l" t="t" r="r" b="b"/>
              <a:pathLst>
                <a:path w="4850109" h="1098138">
                  <a:moveTo>
                    <a:pt x="0" y="0"/>
                  </a:moveTo>
                  <a:lnTo>
                    <a:pt x="4850109" y="0"/>
                  </a:lnTo>
                  <a:lnTo>
                    <a:pt x="485010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58" b="-3605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850105" cy="1098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Indices • quotes • charts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52646" y="4454509"/>
            <a:ext cx="4131364" cy="1729188"/>
            <a:chOff x="0" y="0"/>
            <a:chExt cx="5508485" cy="23055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508498" cy="2305558"/>
            </a:xfrm>
            <a:custGeom>
              <a:avLst/>
              <a:gdLst/>
              <a:ahLst/>
              <a:cxnLst/>
              <a:rect l="l" t="t" r="r" b="b"/>
              <a:pathLst>
                <a:path w="5508498" h="2305558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5124196" y="0"/>
                  </a:lnTo>
                  <a:cubicBezTo>
                    <a:pt x="5336413" y="0"/>
                    <a:pt x="5508498" y="172085"/>
                    <a:pt x="5508498" y="384302"/>
                  </a:cubicBezTo>
                  <a:lnTo>
                    <a:pt x="5508498" y="1921256"/>
                  </a:lnTo>
                  <a:cubicBezTo>
                    <a:pt x="5508498" y="2133473"/>
                    <a:pt x="5336413" y="2305558"/>
                    <a:pt x="5124196" y="2305558"/>
                  </a:cubicBezTo>
                  <a:lnTo>
                    <a:pt x="384302" y="2305558"/>
                  </a:lnTo>
                  <a:cubicBezTo>
                    <a:pt x="172085" y="2305558"/>
                    <a:pt x="0" y="2133600"/>
                    <a:pt x="0" y="192125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806402" y="4653363"/>
            <a:ext cx="3637578" cy="384353"/>
            <a:chOff x="0" y="0"/>
            <a:chExt cx="4850105" cy="5124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50109" cy="512464"/>
            </a:xfrm>
            <a:custGeom>
              <a:avLst/>
              <a:gdLst/>
              <a:ahLst/>
              <a:cxnLst/>
              <a:rect l="l" t="t" r="r" b="b"/>
              <a:pathLst>
                <a:path w="4850109" h="512464">
                  <a:moveTo>
                    <a:pt x="0" y="0"/>
                  </a:moveTo>
                  <a:lnTo>
                    <a:pt x="4850109" y="0"/>
                  </a:lnTo>
                  <a:lnTo>
                    <a:pt x="485010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11" b="-13441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VIRTUAL CAPITAL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806402" y="5216157"/>
            <a:ext cx="3637578" cy="823608"/>
            <a:chOff x="0" y="0"/>
            <a:chExt cx="4850105" cy="10981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50109" cy="1098138"/>
            </a:xfrm>
            <a:custGeom>
              <a:avLst/>
              <a:gdLst/>
              <a:ahLst/>
              <a:cxnLst/>
              <a:rect l="l" t="t" r="r" b="b"/>
              <a:pathLst>
                <a:path w="4850109" h="1098138">
                  <a:moveTo>
                    <a:pt x="0" y="0"/>
                  </a:moveTo>
                  <a:lnTo>
                    <a:pt x="4850109" y="0"/>
                  </a:lnTo>
                  <a:lnTo>
                    <a:pt x="485010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58" b="-3605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4850105" cy="1098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Wallet • balance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0097" y="6513519"/>
            <a:ext cx="4131364" cy="1729188"/>
            <a:chOff x="0" y="0"/>
            <a:chExt cx="5508485" cy="230558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08498" cy="2305558"/>
            </a:xfrm>
            <a:custGeom>
              <a:avLst/>
              <a:gdLst/>
              <a:ahLst/>
              <a:cxnLst/>
              <a:rect l="l" t="t" r="r" b="b"/>
              <a:pathLst>
                <a:path w="5508498" h="2305558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5124196" y="0"/>
                  </a:lnTo>
                  <a:cubicBezTo>
                    <a:pt x="5336413" y="0"/>
                    <a:pt x="5508498" y="172085"/>
                    <a:pt x="5508498" y="384302"/>
                  </a:cubicBezTo>
                  <a:lnTo>
                    <a:pt x="5508498" y="1921256"/>
                  </a:lnTo>
                  <a:cubicBezTo>
                    <a:pt x="5508498" y="2133473"/>
                    <a:pt x="5336413" y="2305558"/>
                    <a:pt x="5124196" y="2305558"/>
                  </a:cubicBezTo>
                  <a:lnTo>
                    <a:pt x="384302" y="2305558"/>
                  </a:lnTo>
                  <a:cubicBezTo>
                    <a:pt x="172085" y="2305558"/>
                    <a:pt x="0" y="2133600"/>
                    <a:pt x="0" y="192125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413853" y="6712372"/>
            <a:ext cx="3637578" cy="384353"/>
            <a:chOff x="0" y="0"/>
            <a:chExt cx="4850105" cy="51247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50109" cy="512464"/>
            </a:xfrm>
            <a:custGeom>
              <a:avLst/>
              <a:gdLst/>
              <a:ahLst/>
              <a:cxnLst/>
              <a:rect l="l" t="t" r="r" b="b"/>
              <a:pathLst>
                <a:path w="4850109" h="512464">
                  <a:moveTo>
                    <a:pt x="0" y="0"/>
                  </a:moveTo>
                  <a:lnTo>
                    <a:pt x="4850109" y="0"/>
                  </a:lnTo>
                  <a:lnTo>
                    <a:pt x="485010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11" b="-13441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SIMULATED TRADING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13853" y="7275166"/>
            <a:ext cx="3637578" cy="823608"/>
            <a:chOff x="0" y="0"/>
            <a:chExt cx="4850105" cy="10981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50109" cy="1098138"/>
            </a:xfrm>
            <a:custGeom>
              <a:avLst/>
              <a:gdLst/>
              <a:ahLst/>
              <a:cxnLst/>
              <a:rect l="l" t="t" r="r" b="b"/>
              <a:pathLst>
                <a:path w="4850109" h="1098138">
                  <a:moveTo>
                    <a:pt x="0" y="0"/>
                  </a:moveTo>
                  <a:lnTo>
                    <a:pt x="4850109" y="0"/>
                  </a:lnTo>
                  <a:lnTo>
                    <a:pt x="485010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58" b="-36059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4850105" cy="1098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Buy • sell • validation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552646" y="6513519"/>
            <a:ext cx="4131364" cy="1729188"/>
            <a:chOff x="0" y="0"/>
            <a:chExt cx="5508485" cy="230558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508498" cy="2305558"/>
            </a:xfrm>
            <a:custGeom>
              <a:avLst/>
              <a:gdLst/>
              <a:ahLst/>
              <a:cxnLst/>
              <a:rect l="l" t="t" r="r" b="b"/>
              <a:pathLst>
                <a:path w="5508498" h="2305558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5124196" y="0"/>
                  </a:lnTo>
                  <a:cubicBezTo>
                    <a:pt x="5336413" y="0"/>
                    <a:pt x="5508498" y="172085"/>
                    <a:pt x="5508498" y="384302"/>
                  </a:cubicBezTo>
                  <a:lnTo>
                    <a:pt x="5508498" y="1921256"/>
                  </a:lnTo>
                  <a:cubicBezTo>
                    <a:pt x="5508498" y="2133473"/>
                    <a:pt x="5336413" y="2305558"/>
                    <a:pt x="5124196" y="2305558"/>
                  </a:cubicBezTo>
                  <a:lnTo>
                    <a:pt x="384302" y="2305558"/>
                  </a:lnTo>
                  <a:cubicBezTo>
                    <a:pt x="172085" y="2305558"/>
                    <a:pt x="0" y="2133600"/>
                    <a:pt x="0" y="192125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806402" y="6712372"/>
            <a:ext cx="3637578" cy="384353"/>
            <a:chOff x="0" y="0"/>
            <a:chExt cx="4850105" cy="5124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50109" cy="512464"/>
            </a:xfrm>
            <a:custGeom>
              <a:avLst/>
              <a:gdLst/>
              <a:ahLst/>
              <a:cxnLst/>
              <a:rect l="l" t="t" r="r" b="b"/>
              <a:pathLst>
                <a:path w="4850109" h="512464">
                  <a:moveTo>
                    <a:pt x="0" y="0"/>
                  </a:moveTo>
                  <a:lnTo>
                    <a:pt x="4850109" y="0"/>
                  </a:lnTo>
                  <a:lnTo>
                    <a:pt x="485010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11" b="-13441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806402" y="7275166"/>
            <a:ext cx="3637578" cy="823608"/>
            <a:chOff x="0" y="0"/>
            <a:chExt cx="4850105" cy="109814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850109" cy="1098138"/>
            </a:xfrm>
            <a:custGeom>
              <a:avLst/>
              <a:gdLst/>
              <a:ahLst/>
              <a:cxnLst/>
              <a:rect l="l" t="t" r="r" b="b"/>
              <a:pathLst>
                <a:path w="4850109" h="1098138">
                  <a:moveTo>
                    <a:pt x="0" y="0"/>
                  </a:moveTo>
                  <a:lnTo>
                    <a:pt x="4850109" y="0"/>
                  </a:lnTo>
                  <a:lnTo>
                    <a:pt x="485010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58" b="-3605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4850105" cy="1098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Portfolio • P&amp;L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019882" y="8620382"/>
            <a:ext cx="5078892" cy="466706"/>
            <a:chOff x="0" y="0"/>
            <a:chExt cx="6771856" cy="6222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71894" cy="622300"/>
            </a:xfrm>
            <a:custGeom>
              <a:avLst/>
              <a:gdLst/>
              <a:ahLst/>
              <a:cxnLst/>
              <a:rect l="l" t="t" r="r" b="b"/>
              <a:pathLst>
                <a:path w="6771894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6668135" y="0"/>
                  </a:lnTo>
                  <a:cubicBezTo>
                    <a:pt x="6725412" y="0"/>
                    <a:pt x="6771894" y="46482"/>
                    <a:pt x="6771894" y="103759"/>
                  </a:cubicBezTo>
                  <a:lnTo>
                    <a:pt x="6771894" y="518541"/>
                  </a:lnTo>
                  <a:cubicBezTo>
                    <a:pt x="6771894" y="575818"/>
                    <a:pt x="6725412" y="622300"/>
                    <a:pt x="6668135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D5474B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3019882" y="8634108"/>
            <a:ext cx="5078892" cy="384353"/>
            <a:chOff x="0" y="0"/>
            <a:chExt cx="6771856" cy="51247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771850" cy="512464"/>
            </a:xfrm>
            <a:custGeom>
              <a:avLst/>
              <a:gdLst/>
              <a:ahLst/>
              <a:cxnLst/>
              <a:rect l="l" t="t" r="r" b="b"/>
              <a:pathLst>
                <a:path w="6771850" h="512464">
                  <a:moveTo>
                    <a:pt x="0" y="0"/>
                  </a:moveTo>
                  <a:lnTo>
                    <a:pt x="6771850" y="0"/>
                  </a:lnTo>
                  <a:lnTo>
                    <a:pt x="677185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0" b="-20748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6771856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 REAL FINANCIAL TRANSACTIONS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Objectives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What TradeLab is designed to achieve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127647"/>
            <a:ext cx="4735716" cy="411804"/>
            <a:chOff x="0" y="0"/>
            <a:chExt cx="6314288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14293" cy="549069"/>
            </a:xfrm>
            <a:custGeom>
              <a:avLst/>
              <a:gdLst/>
              <a:ahLst/>
              <a:cxnLst/>
              <a:rect l="l" t="t" r="r" b="b"/>
              <a:pathLst>
                <a:path w="6314293" h="549069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631428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D547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Risk-free practice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704167"/>
            <a:ext cx="1029500" cy="48044"/>
            <a:chOff x="0" y="0"/>
            <a:chExt cx="1372667" cy="640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2616" cy="64008"/>
            </a:xfrm>
            <a:custGeom>
              <a:avLst/>
              <a:gdLst/>
              <a:ahLst/>
              <a:cxnLst/>
              <a:rect l="l" t="t" r="r" b="b"/>
              <a:pathLst>
                <a:path w="1372616" h="64008">
                  <a:moveTo>
                    <a:pt x="0" y="0"/>
                  </a:moveTo>
                  <a:lnTo>
                    <a:pt x="1372616" y="0"/>
                  </a:lnTo>
                  <a:lnTo>
                    <a:pt x="137261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5474B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66774" y="2882608"/>
            <a:ext cx="4872990" cy="754971"/>
            <a:chOff x="0" y="0"/>
            <a:chExt cx="6497320" cy="10066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97316" cy="1006626"/>
            </a:xfrm>
            <a:custGeom>
              <a:avLst/>
              <a:gdLst/>
              <a:ahLst/>
              <a:cxnLst/>
              <a:rect l="l" t="t" r="r" b="b"/>
              <a:pathLst>
                <a:path w="6497316" h="1006626">
                  <a:moveTo>
                    <a:pt x="0" y="0"/>
                  </a:moveTo>
                  <a:lnTo>
                    <a:pt x="6497316" y="0"/>
                  </a:lnTo>
                  <a:lnTo>
                    <a:pt x="64973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67" b="-7576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6497320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Practice trading without risking real money.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88824" y="2127647"/>
            <a:ext cx="4735716" cy="411804"/>
            <a:chOff x="0" y="0"/>
            <a:chExt cx="6314288" cy="549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14293" cy="549069"/>
            </a:xfrm>
            <a:custGeom>
              <a:avLst/>
              <a:gdLst/>
              <a:ahLst/>
              <a:cxnLst/>
              <a:rect l="l" t="t" r="r" b="b"/>
              <a:pathLst>
                <a:path w="6314293" h="549069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631428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Realistic experience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88824" y="2704167"/>
            <a:ext cx="1029500" cy="48044"/>
            <a:chOff x="0" y="0"/>
            <a:chExt cx="1372667" cy="6405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72616" cy="64008"/>
            </a:xfrm>
            <a:custGeom>
              <a:avLst/>
              <a:gdLst/>
              <a:ahLst/>
              <a:cxnLst/>
              <a:rect l="l" t="t" r="r" b="b"/>
              <a:pathLst>
                <a:path w="1372616" h="64008">
                  <a:moveTo>
                    <a:pt x="0" y="0"/>
                  </a:moveTo>
                  <a:lnTo>
                    <a:pt x="1372616" y="0"/>
                  </a:lnTo>
                  <a:lnTo>
                    <a:pt x="137261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588824" y="2882608"/>
            <a:ext cx="4872990" cy="754971"/>
            <a:chOff x="0" y="0"/>
            <a:chExt cx="6497320" cy="100662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97316" cy="1006626"/>
            </a:xfrm>
            <a:custGeom>
              <a:avLst/>
              <a:gdLst/>
              <a:ahLst/>
              <a:cxnLst/>
              <a:rect l="l" t="t" r="r" b="b"/>
              <a:pathLst>
                <a:path w="6497316" h="1006626">
                  <a:moveTo>
                    <a:pt x="0" y="0"/>
                  </a:moveTo>
                  <a:lnTo>
                    <a:pt x="6497316" y="0"/>
                  </a:lnTo>
                  <a:lnTo>
                    <a:pt x="64973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67" b="-7576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6497320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Use market data, charts and familiar trading concepts.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66774" y="4159196"/>
            <a:ext cx="4735716" cy="411804"/>
            <a:chOff x="0" y="0"/>
            <a:chExt cx="6314288" cy="549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14293" cy="549069"/>
            </a:xfrm>
            <a:custGeom>
              <a:avLst/>
              <a:gdLst/>
              <a:ahLst/>
              <a:cxnLst/>
              <a:rect l="l" t="t" r="r" b="b"/>
              <a:pathLst>
                <a:path w="6314293" h="549069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631428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Portfolio automation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6774" y="4735716"/>
            <a:ext cx="1029500" cy="48044"/>
            <a:chOff x="0" y="0"/>
            <a:chExt cx="1372667" cy="640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72616" cy="64008"/>
            </a:xfrm>
            <a:custGeom>
              <a:avLst/>
              <a:gdLst/>
              <a:ahLst/>
              <a:cxnLst/>
              <a:rect l="l" t="t" r="r" b="b"/>
              <a:pathLst>
                <a:path w="1372616" h="64008">
                  <a:moveTo>
                    <a:pt x="0" y="0"/>
                  </a:moveTo>
                  <a:lnTo>
                    <a:pt x="1372616" y="0"/>
                  </a:lnTo>
                  <a:lnTo>
                    <a:pt x="137261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00A67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66774" y="4914167"/>
            <a:ext cx="4872990" cy="754971"/>
            <a:chOff x="0" y="0"/>
            <a:chExt cx="6497320" cy="10066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497316" cy="1006626"/>
            </a:xfrm>
            <a:custGeom>
              <a:avLst/>
              <a:gdLst/>
              <a:ahLst/>
              <a:cxnLst/>
              <a:rect l="l" t="t" r="r" b="b"/>
              <a:pathLst>
                <a:path w="6497316" h="1006626">
                  <a:moveTo>
                    <a:pt x="0" y="0"/>
                  </a:moveTo>
                  <a:lnTo>
                    <a:pt x="6497316" y="0"/>
                  </a:lnTo>
                  <a:lnTo>
                    <a:pt x="64973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67" b="-7576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6497320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Track holdings, wallet and portfolio value.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88824" y="4159196"/>
            <a:ext cx="4735716" cy="411804"/>
            <a:chOff x="0" y="0"/>
            <a:chExt cx="6314288" cy="5490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14293" cy="549069"/>
            </a:xfrm>
            <a:custGeom>
              <a:avLst/>
              <a:gdLst/>
              <a:ahLst/>
              <a:cxnLst/>
              <a:rect l="l" t="t" r="r" b="b"/>
              <a:pathLst>
                <a:path w="6314293" h="549069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631428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P&amp;L insight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88824" y="4735716"/>
            <a:ext cx="1029500" cy="48044"/>
            <a:chOff x="0" y="0"/>
            <a:chExt cx="1372667" cy="6405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72616" cy="64008"/>
            </a:xfrm>
            <a:custGeom>
              <a:avLst/>
              <a:gdLst/>
              <a:ahLst/>
              <a:cxnLst/>
              <a:rect l="l" t="t" r="r" b="b"/>
              <a:pathLst>
                <a:path w="1372616" h="64008">
                  <a:moveTo>
                    <a:pt x="0" y="0"/>
                  </a:moveTo>
                  <a:lnTo>
                    <a:pt x="1372616" y="0"/>
                  </a:lnTo>
                  <a:lnTo>
                    <a:pt x="137261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00919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588824" y="4914167"/>
            <a:ext cx="4872990" cy="754971"/>
            <a:chOff x="0" y="0"/>
            <a:chExt cx="6497320" cy="100662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97316" cy="1006626"/>
            </a:xfrm>
            <a:custGeom>
              <a:avLst/>
              <a:gdLst/>
              <a:ahLst/>
              <a:cxnLst/>
              <a:rect l="l" t="t" r="r" b="b"/>
              <a:pathLst>
                <a:path w="6497316" h="1006626">
                  <a:moveTo>
                    <a:pt x="0" y="0"/>
                  </a:moveTo>
                  <a:lnTo>
                    <a:pt x="6497316" y="0"/>
                  </a:lnTo>
                  <a:lnTo>
                    <a:pt x="64973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67" b="-7576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6497320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Calculate realized and unrealized performance.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66774" y="6190755"/>
            <a:ext cx="4735716" cy="411804"/>
            <a:chOff x="0" y="0"/>
            <a:chExt cx="6314288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314293" cy="549069"/>
            </a:xfrm>
            <a:custGeom>
              <a:avLst/>
              <a:gdLst/>
              <a:ahLst/>
              <a:cxnLst/>
              <a:rect l="l" t="t" r="r" b="b"/>
              <a:pathLst>
                <a:path w="6314293" h="549069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631428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Full-stack learning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6774" y="6767274"/>
            <a:ext cx="1029500" cy="48044"/>
            <a:chOff x="0" y="0"/>
            <a:chExt cx="1372667" cy="6405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72616" cy="64008"/>
            </a:xfrm>
            <a:custGeom>
              <a:avLst/>
              <a:gdLst/>
              <a:ahLst/>
              <a:cxnLst/>
              <a:rect l="l" t="t" r="r" b="b"/>
              <a:pathLst>
                <a:path w="1372616" h="64008">
                  <a:moveTo>
                    <a:pt x="0" y="0"/>
                  </a:moveTo>
                  <a:lnTo>
                    <a:pt x="1372616" y="0"/>
                  </a:lnTo>
                  <a:lnTo>
                    <a:pt x="137261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15B1D2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166774" y="6945725"/>
            <a:ext cx="4872990" cy="754971"/>
            <a:chOff x="0" y="0"/>
            <a:chExt cx="6497320" cy="100662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97316" cy="1006626"/>
            </a:xfrm>
            <a:custGeom>
              <a:avLst/>
              <a:gdLst/>
              <a:ahLst/>
              <a:cxnLst/>
              <a:rect l="l" t="t" r="r" b="b"/>
              <a:pathLst>
                <a:path w="6497316" h="1006626">
                  <a:moveTo>
                    <a:pt x="0" y="0"/>
                  </a:moveTo>
                  <a:lnTo>
                    <a:pt x="6497316" y="0"/>
                  </a:lnTo>
                  <a:lnTo>
                    <a:pt x="64973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67" b="-7576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6497320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Integrate frontend, APIs, backend and database.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588824" y="6190755"/>
            <a:ext cx="4735716" cy="411804"/>
            <a:chOff x="0" y="0"/>
            <a:chExt cx="6314288" cy="5490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14293" cy="549069"/>
            </a:xfrm>
            <a:custGeom>
              <a:avLst/>
              <a:gdLst/>
              <a:ahLst/>
              <a:cxnLst/>
              <a:rect l="l" t="t" r="r" b="b"/>
              <a:pathLst>
                <a:path w="6314293" h="549069">
                  <a:moveTo>
                    <a:pt x="0" y="0"/>
                  </a:moveTo>
                  <a:lnTo>
                    <a:pt x="6314293" y="0"/>
                  </a:lnTo>
                  <a:lnTo>
                    <a:pt x="631429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631428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Scalable foundation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88824" y="6767274"/>
            <a:ext cx="1029500" cy="48044"/>
            <a:chOff x="0" y="0"/>
            <a:chExt cx="1372667" cy="6405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372616" cy="64008"/>
            </a:xfrm>
            <a:custGeom>
              <a:avLst/>
              <a:gdLst/>
              <a:ahLst/>
              <a:cxnLst/>
              <a:rect l="l" t="t" r="r" b="b"/>
              <a:pathLst>
                <a:path w="1372616" h="64008">
                  <a:moveTo>
                    <a:pt x="0" y="0"/>
                  </a:moveTo>
                  <a:lnTo>
                    <a:pt x="1372616" y="0"/>
                  </a:lnTo>
                  <a:lnTo>
                    <a:pt x="137261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588824" y="6945725"/>
            <a:ext cx="4872990" cy="754971"/>
            <a:chOff x="0" y="0"/>
            <a:chExt cx="6497320" cy="100662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497316" cy="1006626"/>
            </a:xfrm>
            <a:custGeom>
              <a:avLst/>
              <a:gdLst/>
              <a:ahLst/>
              <a:cxnLst/>
              <a:rect l="l" t="t" r="r" b="b"/>
              <a:pathLst>
                <a:path w="6497316" h="1006626">
                  <a:moveTo>
                    <a:pt x="0" y="0"/>
                  </a:moveTo>
                  <a:lnTo>
                    <a:pt x="6497316" y="0"/>
                  </a:lnTo>
                  <a:lnTo>
                    <a:pt x="64973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67" b="-75767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6497320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Enable future analytics and competitions.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20002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Software Requirements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Technology stack used by the application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127647"/>
            <a:ext cx="1921745" cy="411804"/>
            <a:chOff x="0" y="0"/>
            <a:chExt cx="2562327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62322" cy="549069"/>
            </a:xfrm>
            <a:custGeom>
              <a:avLst/>
              <a:gdLst/>
              <a:ahLst/>
              <a:cxnLst/>
              <a:rect l="l" t="t" r="r" b="b"/>
              <a:pathLst>
                <a:path w="2562322" h="549069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Frontend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548290"/>
            <a:ext cx="6863363" cy="686333"/>
            <a:chOff x="0" y="0"/>
            <a:chExt cx="9151150" cy="9151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51149" cy="915115"/>
            </a:xfrm>
            <a:custGeom>
              <a:avLst/>
              <a:gdLst/>
              <a:ahLst/>
              <a:cxnLst/>
              <a:rect l="l" t="t" r="r" b="b"/>
              <a:pathLst>
                <a:path w="9151149" h="915115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15115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React.js • React Router • HTML • CSS • JavaScript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774" y="3234623"/>
            <a:ext cx="8304667" cy="48044"/>
            <a:chOff x="0" y="0"/>
            <a:chExt cx="11072889" cy="64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72876" cy="64008"/>
            </a:xfrm>
            <a:custGeom>
              <a:avLst/>
              <a:gdLst/>
              <a:ahLst/>
              <a:cxnLst/>
              <a:rect l="l" t="t" r="r" b="b"/>
              <a:pathLst>
                <a:path w="11072876" h="64008">
                  <a:moveTo>
                    <a:pt x="0" y="0"/>
                  </a:moveTo>
                  <a:lnTo>
                    <a:pt x="11072876" y="0"/>
                  </a:lnTo>
                  <a:lnTo>
                    <a:pt x="1107287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4" y="2127647"/>
            <a:ext cx="1921745" cy="411804"/>
            <a:chOff x="0" y="0"/>
            <a:chExt cx="2562327" cy="549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62322" cy="549069"/>
            </a:xfrm>
            <a:custGeom>
              <a:avLst/>
              <a:gdLst/>
              <a:ahLst/>
              <a:cxnLst/>
              <a:rect l="l" t="t" r="r" b="b"/>
              <a:pathLst>
                <a:path w="2562322" h="549069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92740" y="2539451"/>
            <a:ext cx="6863363" cy="686333"/>
            <a:chOff x="0" y="0"/>
            <a:chExt cx="9151150" cy="9151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151149" cy="915115"/>
            </a:xfrm>
            <a:custGeom>
              <a:avLst/>
              <a:gdLst/>
              <a:ahLst/>
              <a:cxnLst/>
              <a:rect l="l" t="t" r="r" b="b"/>
              <a:pathLst>
                <a:path w="9151149" h="915115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915115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Node.js • Express.js • REST APIs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88824" y="3234623"/>
            <a:ext cx="8304667" cy="48044"/>
            <a:chOff x="0" y="0"/>
            <a:chExt cx="11072889" cy="640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72876" cy="64008"/>
            </a:xfrm>
            <a:custGeom>
              <a:avLst/>
              <a:gdLst/>
              <a:ahLst/>
              <a:cxnLst/>
              <a:rect l="l" t="t" r="r" b="b"/>
              <a:pathLst>
                <a:path w="11072876" h="64008">
                  <a:moveTo>
                    <a:pt x="0" y="0"/>
                  </a:moveTo>
                  <a:lnTo>
                    <a:pt x="11072876" y="0"/>
                  </a:lnTo>
                  <a:lnTo>
                    <a:pt x="1107287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6774" y="4118019"/>
            <a:ext cx="1921745" cy="411804"/>
            <a:chOff x="0" y="0"/>
            <a:chExt cx="2562327" cy="549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62322" cy="549069"/>
            </a:xfrm>
            <a:custGeom>
              <a:avLst/>
              <a:gdLst/>
              <a:ahLst/>
              <a:cxnLst/>
              <a:rect l="l" t="t" r="r" b="b"/>
              <a:pathLst>
                <a:path w="2562322" h="549069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6774" y="4617676"/>
            <a:ext cx="6863363" cy="686336"/>
            <a:chOff x="0" y="0"/>
            <a:chExt cx="9151150" cy="91511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51149" cy="915119"/>
            </a:xfrm>
            <a:custGeom>
              <a:avLst/>
              <a:gdLst/>
              <a:ahLst/>
              <a:cxnLst/>
              <a:rect l="l" t="t" r="r" b="b"/>
              <a:pathLst>
                <a:path w="9151149" h="915119">
                  <a:moveTo>
                    <a:pt x="0" y="0"/>
                  </a:moveTo>
                  <a:lnTo>
                    <a:pt x="9151149" y="0"/>
                  </a:lnTo>
                  <a:lnTo>
                    <a:pt x="9151149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49" b="-14484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9151150" cy="915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MongoDB Atlas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8700" y="5396122"/>
            <a:ext cx="8304667" cy="48044"/>
            <a:chOff x="0" y="0"/>
            <a:chExt cx="11072889" cy="6405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72876" cy="64008"/>
            </a:xfrm>
            <a:custGeom>
              <a:avLst/>
              <a:gdLst/>
              <a:ahLst/>
              <a:cxnLst/>
              <a:rect l="l" t="t" r="r" b="b"/>
              <a:pathLst>
                <a:path w="11072876" h="64008">
                  <a:moveTo>
                    <a:pt x="0" y="0"/>
                  </a:moveTo>
                  <a:lnTo>
                    <a:pt x="11072876" y="0"/>
                  </a:lnTo>
                  <a:lnTo>
                    <a:pt x="1107287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588824" y="4118019"/>
            <a:ext cx="1921745" cy="411804"/>
            <a:chOff x="0" y="0"/>
            <a:chExt cx="2562327" cy="5490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562322" cy="549069"/>
            </a:xfrm>
            <a:custGeom>
              <a:avLst/>
              <a:gdLst/>
              <a:ahLst/>
              <a:cxnLst/>
              <a:rect l="l" t="t" r="r" b="b"/>
              <a:pathLst>
                <a:path w="2562322" h="549069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 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88824" y="4619805"/>
            <a:ext cx="6863363" cy="686333"/>
            <a:chOff x="0" y="0"/>
            <a:chExt cx="9151150" cy="91511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51149" cy="915115"/>
            </a:xfrm>
            <a:custGeom>
              <a:avLst/>
              <a:gdLst/>
              <a:ahLst/>
              <a:cxnLst/>
              <a:rect l="l" t="t" r="r" b="b"/>
              <a:pathLst>
                <a:path w="9151149" h="915115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915115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Upstox API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92740" y="5391866"/>
            <a:ext cx="8304667" cy="48044"/>
            <a:chOff x="0" y="0"/>
            <a:chExt cx="11072889" cy="640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072876" cy="64008"/>
            </a:xfrm>
            <a:custGeom>
              <a:avLst/>
              <a:gdLst/>
              <a:ahLst/>
              <a:cxnLst/>
              <a:rect l="l" t="t" r="r" b="b"/>
              <a:pathLst>
                <a:path w="11072876" h="64008">
                  <a:moveTo>
                    <a:pt x="0" y="0"/>
                  </a:moveTo>
                  <a:lnTo>
                    <a:pt x="11072876" y="0"/>
                  </a:lnTo>
                  <a:lnTo>
                    <a:pt x="1107287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66774" y="6108392"/>
            <a:ext cx="1921745" cy="411804"/>
            <a:chOff x="0" y="0"/>
            <a:chExt cx="2562327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562322" cy="549069"/>
            </a:xfrm>
            <a:custGeom>
              <a:avLst/>
              <a:gdLst/>
              <a:ahLst/>
              <a:cxnLst/>
              <a:rect l="l" t="t" r="r" b="b"/>
              <a:pathLst>
                <a:path w="2562322" h="549069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Authentication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6774" y="6605921"/>
            <a:ext cx="6863363" cy="686333"/>
            <a:chOff x="0" y="0"/>
            <a:chExt cx="9151150" cy="91511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51149" cy="915115"/>
            </a:xfrm>
            <a:custGeom>
              <a:avLst/>
              <a:gdLst/>
              <a:ahLst/>
              <a:cxnLst/>
              <a:rect l="l" t="t" r="r" b="b"/>
              <a:pathLst>
                <a:path w="9151149" h="915115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915115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JWT • password hashing • protected routes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66774" y="7368750"/>
            <a:ext cx="8304667" cy="48044"/>
            <a:chOff x="0" y="0"/>
            <a:chExt cx="11072889" cy="6405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072876" cy="64008"/>
            </a:xfrm>
            <a:custGeom>
              <a:avLst/>
              <a:gdLst/>
              <a:ahLst/>
              <a:cxnLst/>
              <a:rect l="l" t="t" r="r" b="b"/>
              <a:pathLst>
                <a:path w="11072876" h="64008">
                  <a:moveTo>
                    <a:pt x="0" y="0"/>
                  </a:moveTo>
                  <a:lnTo>
                    <a:pt x="11072876" y="0"/>
                  </a:lnTo>
                  <a:lnTo>
                    <a:pt x="1107287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588824" y="6108392"/>
            <a:ext cx="1921745" cy="411804"/>
            <a:chOff x="0" y="0"/>
            <a:chExt cx="2562327" cy="5490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562322" cy="549069"/>
            </a:xfrm>
            <a:custGeom>
              <a:avLst/>
              <a:gdLst/>
              <a:ahLst/>
              <a:cxnLst/>
              <a:rect l="l" t="t" r="r" b="b"/>
              <a:pathLst>
                <a:path w="2562322" h="549069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Tools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88823" y="6601306"/>
            <a:ext cx="6863363" cy="686333"/>
            <a:chOff x="0" y="0"/>
            <a:chExt cx="9151150" cy="91511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151149" cy="915115"/>
            </a:xfrm>
            <a:custGeom>
              <a:avLst/>
              <a:gdLst/>
              <a:ahLst/>
              <a:cxnLst/>
              <a:rect l="l" t="t" r="r" b="b"/>
              <a:pathLst>
                <a:path w="9151149" h="915115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915115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VS Code • Git / GitHub • modern browser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588824" y="7368750"/>
            <a:ext cx="8304667" cy="48044"/>
            <a:chOff x="0" y="0"/>
            <a:chExt cx="11072889" cy="6405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072876" cy="64008"/>
            </a:xfrm>
            <a:custGeom>
              <a:avLst/>
              <a:gdLst/>
              <a:ahLst/>
              <a:cxnLst/>
              <a:rect l="l" t="t" r="r" b="b"/>
              <a:pathLst>
                <a:path w="11072876" h="64008">
                  <a:moveTo>
                    <a:pt x="0" y="0"/>
                  </a:moveTo>
                  <a:lnTo>
                    <a:pt x="11072876" y="0"/>
                  </a:lnTo>
                  <a:lnTo>
                    <a:pt x="1107287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372676" y="8579206"/>
            <a:ext cx="9608706" cy="480431"/>
            <a:chOff x="0" y="0"/>
            <a:chExt cx="12811608" cy="64057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811609" cy="640580"/>
            </a:xfrm>
            <a:custGeom>
              <a:avLst/>
              <a:gdLst/>
              <a:ahLst/>
              <a:cxnLst/>
              <a:rect l="l" t="t" r="r" b="b"/>
              <a:pathLst>
                <a:path w="12811609" h="640580">
                  <a:moveTo>
                    <a:pt x="0" y="0"/>
                  </a:moveTo>
                  <a:lnTo>
                    <a:pt x="12811609" y="0"/>
                  </a:lnTo>
                  <a:lnTo>
                    <a:pt x="1281160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1" b="-33970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12811608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Browser-based application  •  REST / JSON communication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Hardware Requirements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No specialized hardware is required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0097" y="2258235"/>
            <a:ext cx="4749070" cy="4817697"/>
            <a:chOff x="0" y="0"/>
            <a:chExt cx="6332093" cy="64235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32093" cy="6423660"/>
            </a:xfrm>
            <a:custGeom>
              <a:avLst/>
              <a:gdLst/>
              <a:ahLst/>
              <a:cxnLst/>
              <a:rect l="l" t="t" r="r" b="b"/>
              <a:pathLst>
                <a:path w="6332093" h="6423660">
                  <a:moveTo>
                    <a:pt x="0" y="1055370"/>
                  </a:moveTo>
                  <a:cubicBezTo>
                    <a:pt x="0" y="472567"/>
                    <a:pt x="472567" y="0"/>
                    <a:pt x="1055370" y="0"/>
                  </a:cubicBezTo>
                  <a:lnTo>
                    <a:pt x="5276723" y="0"/>
                  </a:lnTo>
                  <a:cubicBezTo>
                    <a:pt x="5859526" y="0"/>
                    <a:pt x="6332093" y="472567"/>
                    <a:pt x="6332093" y="1055370"/>
                  </a:cubicBezTo>
                  <a:lnTo>
                    <a:pt x="6332093" y="5368290"/>
                  </a:lnTo>
                  <a:cubicBezTo>
                    <a:pt x="6332093" y="5951093"/>
                    <a:pt x="5859526" y="6423660"/>
                    <a:pt x="5276723" y="6423660"/>
                  </a:cubicBezTo>
                  <a:lnTo>
                    <a:pt x="1055370" y="6423660"/>
                  </a:lnTo>
                  <a:cubicBezTo>
                    <a:pt x="472567" y="6423660"/>
                    <a:pt x="0" y="5951093"/>
                    <a:pt x="0" y="53682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13853" y="2457088"/>
            <a:ext cx="4255284" cy="384353"/>
            <a:chOff x="0" y="0"/>
            <a:chExt cx="5673712" cy="5124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73713" cy="512464"/>
            </a:xfrm>
            <a:custGeom>
              <a:avLst/>
              <a:gdLst/>
              <a:ahLst/>
              <a:cxnLst/>
              <a:rect l="l" t="t" r="r" b="b"/>
              <a:pathLst>
                <a:path w="5673713" h="512464">
                  <a:moveTo>
                    <a:pt x="0" y="0"/>
                  </a:moveTo>
                  <a:lnTo>
                    <a:pt x="5673713" y="0"/>
                  </a:lnTo>
                  <a:lnTo>
                    <a:pt x="567371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726" b="-16572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567371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DEVELOPMENT SYSTEM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3853" y="3019882"/>
            <a:ext cx="4255284" cy="3912116"/>
            <a:chOff x="0" y="0"/>
            <a:chExt cx="5673712" cy="521615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73713" cy="5216154"/>
            </a:xfrm>
            <a:custGeom>
              <a:avLst/>
              <a:gdLst/>
              <a:ahLst/>
              <a:cxnLst/>
              <a:rect l="l" t="t" r="r" b="b"/>
              <a:pathLst>
                <a:path w="5673713" h="5216154">
                  <a:moveTo>
                    <a:pt x="0" y="0"/>
                  </a:moveTo>
                  <a:lnTo>
                    <a:pt x="5673713" y="0"/>
                  </a:lnTo>
                  <a:lnTo>
                    <a:pt x="5673713" y="5216154"/>
                  </a:lnTo>
                  <a:lnTo>
                    <a:pt x="0" y="52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956" r="-6795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673712" cy="5216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Intel i3 / equivalent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8 GB RAM or higher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10 GB+ available storage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Stable internet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1366 × 768 or higher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38989" y="2258235"/>
            <a:ext cx="4749070" cy="4817697"/>
            <a:chOff x="0" y="0"/>
            <a:chExt cx="6332093" cy="64235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32093" cy="6423660"/>
            </a:xfrm>
            <a:custGeom>
              <a:avLst/>
              <a:gdLst/>
              <a:ahLst/>
              <a:cxnLst/>
              <a:rect l="l" t="t" r="r" b="b"/>
              <a:pathLst>
                <a:path w="6332093" h="6423660">
                  <a:moveTo>
                    <a:pt x="0" y="1055370"/>
                  </a:moveTo>
                  <a:cubicBezTo>
                    <a:pt x="0" y="472567"/>
                    <a:pt x="472567" y="0"/>
                    <a:pt x="1055370" y="0"/>
                  </a:cubicBezTo>
                  <a:lnTo>
                    <a:pt x="5276723" y="0"/>
                  </a:lnTo>
                  <a:cubicBezTo>
                    <a:pt x="5859526" y="0"/>
                    <a:pt x="6332093" y="472567"/>
                    <a:pt x="6332093" y="1055370"/>
                  </a:cubicBezTo>
                  <a:lnTo>
                    <a:pt x="6332093" y="5368290"/>
                  </a:lnTo>
                  <a:cubicBezTo>
                    <a:pt x="6332093" y="5951093"/>
                    <a:pt x="5859526" y="6423660"/>
                    <a:pt x="5276723" y="6423660"/>
                  </a:cubicBezTo>
                  <a:lnTo>
                    <a:pt x="1055370" y="6423660"/>
                  </a:lnTo>
                  <a:cubicBezTo>
                    <a:pt x="472567" y="6423660"/>
                    <a:pt x="0" y="5951093"/>
                    <a:pt x="0" y="53682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492745" y="2457088"/>
            <a:ext cx="4255284" cy="384353"/>
            <a:chOff x="0" y="0"/>
            <a:chExt cx="5673712" cy="5124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673713" cy="512464"/>
            </a:xfrm>
            <a:custGeom>
              <a:avLst/>
              <a:gdLst/>
              <a:ahLst/>
              <a:cxnLst/>
              <a:rect l="l" t="t" r="r" b="b"/>
              <a:pathLst>
                <a:path w="5673713" h="512464">
                  <a:moveTo>
                    <a:pt x="0" y="0"/>
                  </a:moveTo>
                  <a:lnTo>
                    <a:pt x="5673713" y="0"/>
                  </a:lnTo>
                  <a:lnTo>
                    <a:pt x="567371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726" b="-16572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567371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END USER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92745" y="3019882"/>
            <a:ext cx="4255284" cy="3912116"/>
            <a:chOff x="0" y="0"/>
            <a:chExt cx="5673712" cy="521615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73713" cy="5216154"/>
            </a:xfrm>
            <a:custGeom>
              <a:avLst/>
              <a:gdLst/>
              <a:ahLst/>
              <a:cxnLst/>
              <a:rect l="l" t="t" r="r" b="b"/>
              <a:pathLst>
                <a:path w="5673713" h="5216154">
                  <a:moveTo>
                    <a:pt x="0" y="0"/>
                  </a:moveTo>
                  <a:lnTo>
                    <a:pt x="5673713" y="0"/>
                  </a:lnTo>
                  <a:lnTo>
                    <a:pt x="5673713" y="5216154"/>
                  </a:lnTo>
                  <a:lnTo>
                    <a:pt x="0" y="52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956" r="-6795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673712" cy="5216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Laptop or desktop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Modern web browser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Stable internet</a:t>
              </a:r>
            </a:p>
            <a:p>
              <a:pPr algn="l">
                <a:lnSpc>
                  <a:spcPts val="2491"/>
                </a:lnSpc>
              </a:pPr>
              <a:r>
                <a:rPr lang="en-US" sz="20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No dedicated GPU required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990373" y="7755598"/>
            <a:ext cx="8030137" cy="466706"/>
            <a:chOff x="0" y="0"/>
            <a:chExt cx="10706849" cy="6222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06862" cy="622300"/>
            </a:xfrm>
            <a:custGeom>
              <a:avLst/>
              <a:gdLst/>
              <a:ahLst/>
              <a:cxnLst/>
              <a:rect l="l" t="t" r="r" b="b"/>
              <a:pathLst>
                <a:path w="10706862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0603103" y="0"/>
                  </a:lnTo>
                  <a:cubicBezTo>
                    <a:pt x="10660380" y="0"/>
                    <a:pt x="10706862" y="46482"/>
                    <a:pt x="10706862" y="103759"/>
                  </a:cubicBezTo>
                  <a:lnTo>
                    <a:pt x="10706862" y="518541"/>
                  </a:lnTo>
                  <a:cubicBezTo>
                    <a:pt x="10706862" y="575818"/>
                    <a:pt x="10660380" y="622300"/>
                    <a:pt x="10603103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15B1D2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990373" y="7769323"/>
            <a:ext cx="8030137" cy="384353"/>
            <a:chOff x="0" y="0"/>
            <a:chExt cx="10706849" cy="51247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06845" cy="512464"/>
            </a:xfrm>
            <a:custGeom>
              <a:avLst/>
              <a:gdLst/>
              <a:ahLst/>
              <a:cxnLst/>
              <a:rect l="l" t="t" r="r" b="b"/>
              <a:pathLst>
                <a:path w="10706845" h="512464">
                  <a:moveTo>
                    <a:pt x="0" y="0"/>
                  </a:moveTo>
                  <a:lnTo>
                    <a:pt x="10706845" y="0"/>
                  </a:lnTo>
                  <a:lnTo>
                    <a:pt x="1070684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097" b="-357098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0706849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BROWSER-BASED APPLICATION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System Architecture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Client–server architecture with database and external market-data integration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2833" y="3493646"/>
            <a:ext cx="3239129" cy="1866452"/>
            <a:chOff x="0" y="0"/>
            <a:chExt cx="4318838" cy="24886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18889" cy="2488565"/>
            </a:xfrm>
            <a:custGeom>
              <a:avLst/>
              <a:gdLst/>
              <a:ahLst/>
              <a:cxnLst/>
              <a:rect l="l" t="t" r="r" b="b"/>
              <a:pathLst>
                <a:path w="4318889" h="2488565">
                  <a:moveTo>
                    <a:pt x="0" y="414782"/>
                  </a:moveTo>
                  <a:cubicBezTo>
                    <a:pt x="0" y="185674"/>
                    <a:pt x="185674" y="0"/>
                    <a:pt x="414782" y="0"/>
                  </a:cubicBezTo>
                  <a:lnTo>
                    <a:pt x="3904107" y="0"/>
                  </a:lnTo>
                  <a:cubicBezTo>
                    <a:pt x="4133215" y="0"/>
                    <a:pt x="4318889" y="185674"/>
                    <a:pt x="4318889" y="414782"/>
                  </a:cubicBezTo>
                  <a:lnTo>
                    <a:pt x="4318889" y="2073783"/>
                  </a:lnTo>
                  <a:cubicBezTo>
                    <a:pt x="4318889" y="2302891"/>
                    <a:pt x="4133215" y="2488565"/>
                    <a:pt x="3904107" y="2488565"/>
                  </a:cubicBezTo>
                  <a:lnTo>
                    <a:pt x="414782" y="2488565"/>
                  </a:lnTo>
                  <a:cubicBezTo>
                    <a:pt x="185674" y="2488565"/>
                    <a:pt x="0" y="2302891"/>
                    <a:pt x="0" y="207378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76588" y="3692490"/>
            <a:ext cx="2745343" cy="384353"/>
            <a:chOff x="0" y="0"/>
            <a:chExt cx="3660458" cy="5124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0460" cy="512464"/>
            </a:xfrm>
            <a:custGeom>
              <a:avLst/>
              <a:gdLst/>
              <a:ahLst/>
              <a:cxnLst/>
              <a:rect l="l" t="t" r="r" b="b"/>
              <a:pathLst>
                <a:path w="3660460" h="512464">
                  <a:moveTo>
                    <a:pt x="0" y="0"/>
                  </a:moveTo>
                  <a:lnTo>
                    <a:pt x="3660460" y="0"/>
                  </a:lnTo>
                  <a:lnTo>
                    <a:pt x="366046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6588" y="4255284"/>
            <a:ext cx="2745343" cy="960872"/>
            <a:chOff x="0" y="0"/>
            <a:chExt cx="3660458" cy="128116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60460" cy="1281161"/>
            </a:xfrm>
            <a:custGeom>
              <a:avLst/>
              <a:gdLst/>
              <a:ahLst/>
              <a:cxnLst/>
              <a:rect l="l" t="t" r="r" b="b"/>
              <a:pathLst>
                <a:path w="3660460" h="1281161">
                  <a:moveTo>
                    <a:pt x="0" y="0"/>
                  </a:moveTo>
                  <a:lnTo>
                    <a:pt x="3660460" y="0"/>
                  </a:lnTo>
                  <a:lnTo>
                    <a:pt x="3660460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660458" cy="1281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Browser / trader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05440" y="2258235"/>
            <a:ext cx="3239129" cy="1866452"/>
            <a:chOff x="0" y="0"/>
            <a:chExt cx="4318838" cy="24886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18889" cy="2488565"/>
            </a:xfrm>
            <a:custGeom>
              <a:avLst/>
              <a:gdLst/>
              <a:ahLst/>
              <a:cxnLst/>
              <a:rect l="l" t="t" r="r" b="b"/>
              <a:pathLst>
                <a:path w="4318889" h="2488565">
                  <a:moveTo>
                    <a:pt x="0" y="414782"/>
                  </a:moveTo>
                  <a:cubicBezTo>
                    <a:pt x="0" y="185674"/>
                    <a:pt x="185674" y="0"/>
                    <a:pt x="414782" y="0"/>
                  </a:cubicBezTo>
                  <a:lnTo>
                    <a:pt x="3904107" y="0"/>
                  </a:lnTo>
                  <a:cubicBezTo>
                    <a:pt x="4133215" y="0"/>
                    <a:pt x="4318889" y="185674"/>
                    <a:pt x="4318889" y="414782"/>
                  </a:cubicBezTo>
                  <a:lnTo>
                    <a:pt x="4318889" y="2073783"/>
                  </a:lnTo>
                  <a:cubicBezTo>
                    <a:pt x="4318889" y="2302891"/>
                    <a:pt x="4133215" y="2488565"/>
                    <a:pt x="3904107" y="2488565"/>
                  </a:cubicBezTo>
                  <a:lnTo>
                    <a:pt x="414782" y="2488565"/>
                  </a:lnTo>
                  <a:cubicBezTo>
                    <a:pt x="185674" y="2488565"/>
                    <a:pt x="0" y="2302891"/>
                    <a:pt x="0" y="207378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159196" y="2457088"/>
            <a:ext cx="2745343" cy="384353"/>
            <a:chOff x="0" y="0"/>
            <a:chExt cx="3660458" cy="5124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60460" cy="512464"/>
            </a:xfrm>
            <a:custGeom>
              <a:avLst/>
              <a:gdLst/>
              <a:ahLst/>
              <a:cxnLst/>
              <a:rect l="l" t="t" r="r" b="b"/>
              <a:pathLst>
                <a:path w="3660460" h="512464">
                  <a:moveTo>
                    <a:pt x="0" y="0"/>
                  </a:moveTo>
                  <a:lnTo>
                    <a:pt x="3660460" y="0"/>
                  </a:lnTo>
                  <a:lnTo>
                    <a:pt x="366046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 FRONTEND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159196" y="3019882"/>
            <a:ext cx="2745343" cy="960872"/>
            <a:chOff x="0" y="0"/>
            <a:chExt cx="3660458" cy="12811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60460" cy="1281161"/>
            </a:xfrm>
            <a:custGeom>
              <a:avLst/>
              <a:gdLst/>
              <a:ahLst/>
              <a:cxnLst/>
              <a:rect l="l" t="t" r="r" b="b"/>
              <a:pathLst>
                <a:path w="3660460" h="1281161">
                  <a:moveTo>
                    <a:pt x="0" y="0"/>
                  </a:moveTo>
                  <a:lnTo>
                    <a:pt x="3660460" y="0"/>
                  </a:lnTo>
                  <a:lnTo>
                    <a:pt x="3660460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660458" cy="1281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Pages • components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Routing • state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905440" y="5072215"/>
            <a:ext cx="3239129" cy="1866452"/>
            <a:chOff x="0" y="0"/>
            <a:chExt cx="4318838" cy="248860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18889" cy="2488565"/>
            </a:xfrm>
            <a:custGeom>
              <a:avLst/>
              <a:gdLst/>
              <a:ahLst/>
              <a:cxnLst/>
              <a:rect l="l" t="t" r="r" b="b"/>
              <a:pathLst>
                <a:path w="4318889" h="2488565">
                  <a:moveTo>
                    <a:pt x="0" y="414782"/>
                  </a:moveTo>
                  <a:cubicBezTo>
                    <a:pt x="0" y="185674"/>
                    <a:pt x="185674" y="0"/>
                    <a:pt x="414782" y="0"/>
                  </a:cubicBezTo>
                  <a:lnTo>
                    <a:pt x="3904107" y="0"/>
                  </a:lnTo>
                  <a:cubicBezTo>
                    <a:pt x="4133215" y="0"/>
                    <a:pt x="4318889" y="185674"/>
                    <a:pt x="4318889" y="414782"/>
                  </a:cubicBezTo>
                  <a:lnTo>
                    <a:pt x="4318889" y="2073783"/>
                  </a:lnTo>
                  <a:cubicBezTo>
                    <a:pt x="4318889" y="2302891"/>
                    <a:pt x="4133215" y="2488565"/>
                    <a:pt x="3904107" y="2488565"/>
                  </a:cubicBezTo>
                  <a:lnTo>
                    <a:pt x="414782" y="2488565"/>
                  </a:lnTo>
                  <a:cubicBezTo>
                    <a:pt x="185674" y="2488565"/>
                    <a:pt x="0" y="2302891"/>
                    <a:pt x="0" y="207378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4159196" y="5271059"/>
            <a:ext cx="2745343" cy="384353"/>
            <a:chOff x="0" y="0"/>
            <a:chExt cx="3660458" cy="51247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60460" cy="512464"/>
            </a:xfrm>
            <a:custGeom>
              <a:avLst/>
              <a:gdLst/>
              <a:ahLst/>
              <a:cxnLst/>
              <a:rect l="l" t="t" r="r" b="b"/>
              <a:pathLst>
                <a:path w="3660460" h="512464">
                  <a:moveTo>
                    <a:pt x="0" y="0"/>
                  </a:moveTo>
                  <a:lnTo>
                    <a:pt x="3660460" y="0"/>
                  </a:lnTo>
                  <a:lnTo>
                    <a:pt x="366046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NODE + EXPRESS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59196" y="5833853"/>
            <a:ext cx="2745343" cy="960872"/>
            <a:chOff x="0" y="0"/>
            <a:chExt cx="3660458" cy="128116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60460" cy="1281161"/>
            </a:xfrm>
            <a:custGeom>
              <a:avLst/>
              <a:gdLst/>
              <a:ahLst/>
              <a:cxnLst/>
              <a:rect l="l" t="t" r="r" b="b"/>
              <a:pathLst>
                <a:path w="3660460" h="1281161">
                  <a:moveTo>
                    <a:pt x="0" y="0"/>
                  </a:moveTo>
                  <a:lnTo>
                    <a:pt x="3660460" y="0"/>
                  </a:lnTo>
                  <a:lnTo>
                    <a:pt x="3660460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3660458" cy="1281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REST API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Business logic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60725" y="5072215"/>
            <a:ext cx="3239129" cy="1866452"/>
            <a:chOff x="0" y="0"/>
            <a:chExt cx="4318838" cy="248860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318889" cy="2488565"/>
            </a:xfrm>
            <a:custGeom>
              <a:avLst/>
              <a:gdLst/>
              <a:ahLst/>
              <a:cxnLst/>
              <a:rect l="l" t="t" r="r" b="b"/>
              <a:pathLst>
                <a:path w="4318889" h="2488565">
                  <a:moveTo>
                    <a:pt x="0" y="414782"/>
                  </a:moveTo>
                  <a:cubicBezTo>
                    <a:pt x="0" y="185674"/>
                    <a:pt x="185674" y="0"/>
                    <a:pt x="414782" y="0"/>
                  </a:cubicBezTo>
                  <a:lnTo>
                    <a:pt x="3904107" y="0"/>
                  </a:lnTo>
                  <a:cubicBezTo>
                    <a:pt x="4133215" y="0"/>
                    <a:pt x="4318889" y="185674"/>
                    <a:pt x="4318889" y="414782"/>
                  </a:cubicBezTo>
                  <a:lnTo>
                    <a:pt x="4318889" y="2073783"/>
                  </a:lnTo>
                  <a:cubicBezTo>
                    <a:pt x="4318889" y="2302891"/>
                    <a:pt x="4133215" y="2488565"/>
                    <a:pt x="3904107" y="2488565"/>
                  </a:cubicBezTo>
                  <a:lnTo>
                    <a:pt x="414782" y="2488565"/>
                  </a:lnTo>
                  <a:cubicBezTo>
                    <a:pt x="185674" y="2488565"/>
                    <a:pt x="0" y="2302891"/>
                    <a:pt x="0" y="207378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8414480" y="5271059"/>
            <a:ext cx="2745343" cy="384353"/>
            <a:chOff x="0" y="0"/>
            <a:chExt cx="3660458" cy="51247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60460" cy="512464"/>
            </a:xfrm>
            <a:custGeom>
              <a:avLst/>
              <a:gdLst/>
              <a:ahLst/>
              <a:cxnLst/>
              <a:rect l="l" t="t" r="r" b="b"/>
              <a:pathLst>
                <a:path w="3660460" h="512464">
                  <a:moveTo>
                    <a:pt x="0" y="0"/>
                  </a:moveTo>
                  <a:lnTo>
                    <a:pt x="3660460" y="0"/>
                  </a:lnTo>
                  <a:lnTo>
                    <a:pt x="366046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MONGODB ATLAS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414480" y="5833853"/>
            <a:ext cx="2745343" cy="960872"/>
            <a:chOff x="0" y="0"/>
            <a:chExt cx="3660458" cy="12811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60460" cy="1281161"/>
            </a:xfrm>
            <a:custGeom>
              <a:avLst/>
              <a:gdLst/>
              <a:ahLst/>
              <a:cxnLst/>
              <a:rect l="l" t="t" r="r" b="b"/>
              <a:pathLst>
                <a:path w="3660460" h="1281161">
                  <a:moveTo>
                    <a:pt x="0" y="0"/>
                  </a:moveTo>
                  <a:lnTo>
                    <a:pt x="3660460" y="0"/>
                  </a:lnTo>
                  <a:lnTo>
                    <a:pt x="3660460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3660458" cy="1281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Users • portfolios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Orders • history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60725" y="2258235"/>
            <a:ext cx="3239129" cy="1866452"/>
            <a:chOff x="0" y="0"/>
            <a:chExt cx="4318838" cy="248860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318889" cy="2488565"/>
            </a:xfrm>
            <a:custGeom>
              <a:avLst/>
              <a:gdLst/>
              <a:ahLst/>
              <a:cxnLst/>
              <a:rect l="l" t="t" r="r" b="b"/>
              <a:pathLst>
                <a:path w="4318889" h="2488565">
                  <a:moveTo>
                    <a:pt x="0" y="414782"/>
                  </a:moveTo>
                  <a:cubicBezTo>
                    <a:pt x="0" y="185674"/>
                    <a:pt x="185674" y="0"/>
                    <a:pt x="414782" y="0"/>
                  </a:cubicBezTo>
                  <a:lnTo>
                    <a:pt x="3904107" y="0"/>
                  </a:lnTo>
                  <a:cubicBezTo>
                    <a:pt x="4133215" y="0"/>
                    <a:pt x="4318889" y="185674"/>
                    <a:pt x="4318889" y="414782"/>
                  </a:cubicBezTo>
                  <a:lnTo>
                    <a:pt x="4318889" y="2073783"/>
                  </a:lnTo>
                  <a:cubicBezTo>
                    <a:pt x="4318889" y="2302891"/>
                    <a:pt x="4133215" y="2488565"/>
                    <a:pt x="3904107" y="2488565"/>
                  </a:cubicBezTo>
                  <a:lnTo>
                    <a:pt x="414782" y="2488565"/>
                  </a:lnTo>
                  <a:cubicBezTo>
                    <a:pt x="185674" y="2488565"/>
                    <a:pt x="0" y="2302891"/>
                    <a:pt x="0" y="207378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8414480" y="2457088"/>
            <a:ext cx="2745343" cy="384353"/>
            <a:chOff x="0" y="0"/>
            <a:chExt cx="3660458" cy="51247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660460" cy="512464"/>
            </a:xfrm>
            <a:custGeom>
              <a:avLst/>
              <a:gdLst/>
              <a:ahLst/>
              <a:cxnLst/>
              <a:rect l="l" t="t" r="r" b="b"/>
              <a:pathLst>
                <a:path w="3660460" h="512464">
                  <a:moveTo>
                    <a:pt x="0" y="0"/>
                  </a:moveTo>
                  <a:lnTo>
                    <a:pt x="3660460" y="0"/>
                  </a:lnTo>
                  <a:lnTo>
                    <a:pt x="366046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UPSTOX API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414480" y="3019882"/>
            <a:ext cx="2745343" cy="960872"/>
            <a:chOff x="0" y="0"/>
            <a:chExt cx="3660458" cy="128116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660460" cy="1281161"/>
            </a:xfrm>
            <a:custGeom>
              <a:avLst/>
              <a:gdLst/>
              <a:ahLst/>
              <a:cxnLst/>
              <a:rect l="l" t="t" r="r" b="b"/>
              <a:pathLst>
                <a:path w="3660460" h="1281161">
                  <a:moveTo>
                    <a:pt x="0" y="0"/>
                  </a:moveTo>
                  <a:lnTo>
                    <a:pt x="3660460" y="0"/>
                  </a:lnTo>
                  <a:lnTo>
                    <a:pt x="3660460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3660458" cy="1281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Market quotes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Historical data</a:t>
              </a:r>
            </a:p>
          </p:txBody>
        </p:sp>
      </p:grpSp>
      <p:sp>
        <p:nvSpPr>
          <p:cNvPr id="56" name="AutoShape 56"/>
          <p:cNvSpPr/>
          <p:nvPr/>
        </p:nvSpPr>
        <p:spPr>
          <a:xfrm rot="2700000">
            <a:off x="4100389" y="4760509"/>
            <a:ext cx="927487" cy="0"/>
          </a:xfrm>
          <a:prstGeom prst="line">
            <a:avLst/>
          </a:prstGeom>
          <a:ln w="19050" cap="rnd">
            <a:solidFill>
              <a:srgbClr val="187DD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AutoShape 57"/>
          <p:cNvSpPr/>
          <p:nvPr/>
        </p:nvSpPr>
        <p:spPr>
          <a:xfrm flipH="1">
            <a:off x="7118490" y="5971127"/>
            <a:ext cx="1068314" cy="0"/>
          </a:xfrm>
          <a:prstGeom prst="line">
            <a:avLst/>
          </a:prstGeom>
          <a:ln w="19050" cap="rnd">
            <a:solidFill>
              <a:srgbClr val="00A67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8" name="AutoShape 58"/>
          <p:cNvSpPr/>
          <p:nvPr/>
        </p:nvSpPr>
        <p:spPr>
          <a:xfrm>
            <a:off x="7118490" y="3225784"/>
            <a:ext cx="1068314" cy="0"/>
          </a:xfrm>
          <a:prstGeom prst="line">
            <a:avLst/>
          </a:prstGeom>
          <a:ln w="19050" cap="rnd">
            <a:solidFill>
              <a:srgbClr val="187DD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AutoShape 59"/>
          <p:cNvSpPr/>
          <p:nvPr/>
        </p:nvSpPr>
        <p:spPr>
          <a:xfrm flipV="1">
            <a:off x="9745970" y="4098588"/>
            <a:ext cx="0" cy="999725"/>
          </a:xfrm>
          <a:prstGeom prst="line">
            <a:avLst/>
          </a:prstGeom>
          <a:ln w="19050" cap="rnd">
            <a:solidFill>
              <a:srgbClr val="187DD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60"/>
          <p:cNvGrpSpPr/>
          <p:nvPr/>
        </p:nvGrpSpPr>
        <p:grpSpPr>
          <a:xfrm>
            <a:off x="4735716" y="7481068"/>
            <a:ext cx="3019882" cy="466706"/>
            <a:chOff x="0" y="0"/>
            <a:chExt cx="4026510" cy="62227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26535" cy="622300"/>
            </a:xfrm>
            <a:custGeom>
              <a:avLst/>
              <a:gdLst/>
              <a:ahLst/>
              <a:cxnLst/>
              <a:rect l="l" t="t" r="r" b="b"/>
              <a:pathLst>
                <a:path w="4026535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4735716" y="7494794"/>
            <a:ext cx="3019882" cy="384353"/>
            <a:chOff x="0" y="0"/>
            <a:chExt cx="4026510" cy="51247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026506" cy="512464"/>
            </a:xfrm>
            <a:custGeom>
              <a:avLst/>
              <a:gdLst/>
              <a:ahLst/>
              <a:cxnLst/>
              <a:rect l="l" t="t" r="r" b="b"/>
              <a:pathLst>
                <a:path w="4026506" h="512464">
                  <a:moveTo>
                    <a:pt x="0" y="0"/>
                  </a:moveTo>
                  <a:lnTo>
                    <a:pt x="4026506" y="0"/>
                  </a:lnTo>
                  <a:lnTo>
                    <a:pt x="402650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096" b="-103097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40265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REST / JSON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Functional Modules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Major capabilities of the platform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127647"/>
            <a:ext cx="3980755" cy="439255"/>
            <a:chOff x="0" y="0"/>
            <a:chExt cx="5307673" cy="5856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Authentication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717892"/>
            <a:ext cx="4804353" cy="549069"/>
            <a:chOff x="0" y="0"/>
            <a:chExt cx="6405804" cy="7320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05805" cy="732092"/>
            </a:xfrm>
            <a:custGeom>
              <a:avLst/>
              <a:gdLst/>
              <a:ahLst/>
              <a:cxnLst/>
              <a:rect l="l" t="t" r="r" b="b"/>
              <a:pathLst>
                <a:path w="6405805" h="732092">
                  <a:moveTo>
                    <a:pt x="0" y="0"/>
                  </a:moveTo>
                  <a:lnTo>
                    <a:pt x="6405805" y="0"/>
                  </a:lnTo>
                  <a:lnTo>
                    <a:pt x="640580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40580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Registration • Login • JWT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774" y="3363049"/>
            <a:ext cx="4392549" cy="48044"/>
            <a:chOff x="0" y="0"/>
            <a:chExt cx="5856732" cy="64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56732" cy="64008"/>
            </a:xfrm>
            <a:custGeom>
              <a:avLst/>
              <a:gdLst/>
              <a:ahLst/>
              <a:cxnLst/>
              <a:rect l="l" t="t" r="r" b="b"/>
              <a:pathLst>
                <a:path w="5856732" h="64008">
                  <a:moveTo>
                    <a:pt x="0" y="0"/>
                  </a:moveTo>
                  <a:lnTo>
                    <a:pt x="5856732" y="0"/>
                  </a:lnTo>
                  <a:lnTo>
                    <a:pt x="5856732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4" y="2127647"/>
            <a:ext cx="3980755" cy="439255"/>
            <a:chOff x="0" y="0"/>
            <a:chExt cx="5307673" cy="5856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 Data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88824" y="2717892"/>
            <a:ext cx="4804353" cy="549069"/>
            <a:chOff x="0" y="0"/>
            <a:chExt cx="6405804" cy="7320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05805" cy="732092"/>
            </a:xfrm>
            <a:custGeom>
              <a:avLst/>
              <a:gdLst/>
              <a:ahLst/>
              <a:cxnLst/>
              <a:rect l="l" t="t" r="r" b="b"/>
              <a:pathLst>
                <a:path w="6405805" h="732092">
                  <a:moveTo>
                    <a:pt x="0" y="0"/>
                  </a:moveTo>
                  <a:lnTo>
                    <a:pt x="6405805" y="0"/>
                  </a:lnTo>
                  <a:lnTo>
                    <a:pt x="640580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640580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Indices • Search • Stock details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88824" y="3363049"/>
            <a:ext cx="4392549" cy="48044"/>
            <a:chOff x="0" y="0"/>
            <a:chExt cx="5856732" cy="640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56732" cy="64008"/>
            </a:xfrm>
            <a:custGeom>
              <a:avLst/>
              <a:gdLst/>
              <a:ahLst/>
              <a:cxnLst/>
              <a:rect l="l" t="t" r="r" b="b"/>
              <a:pathLst>
                <a:path w="5856732" h="64008">
                  <a:moveTo>
                    <a:pt x="0" y="0"/>
                  </a:moveTo>
                  <a:lnTo>
                    <a:pt x="5856732" y="0"/>
                  </a:lnTo>
                  <a:lnTo>
                    <a:pt x="5856732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6774" y="4118019"/>
            <a:ext cx="3980755" cy="439255"/>
            <a:chOff x="0" y="0"/>
            <a:chExt cx="5307673" cy="58567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6774" y="4708265"/>
            <a:ext cx="4804353" cy="549069"/>
            <a:chOff x="0" y="0"/>
            <a:chExt cx="6405804" cy="7320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05805" cy="732092"/>
            </a:xfrm>
            <a:custGeom>
              <a:avLst/>
              <a:gdLst/>
              <a:ahLst/>
              <a:cxnLst/>
              <a:rect l="l" t="t" r="r" b="b"/>
              <a:pathLst>
                <a:path w="6405805" h="732092">
                  <a:moveTo>
                    <a:pt x="0" y="0"/>
                  </a:moveTo>
                  <a:lnTo>
                    <a:pt x="6405805" y="0"/>
                  </a:lnTo>
                  <a:lnTo>
                    <a:pt x="640580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640580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Buy / Sell • Validation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6774" y="5353421"/>
            <a:ext cx="4392549" cy="48044"/>
            <a:chOff x="0" y="0"/>
            <a:chExt cx="5856732" cy="6405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56732" cy="64008"/>
            </a:xfrm>
            <a:custGeom>
              <a:avLst/>
              <a:gdLst/>
              <a:ahLst/>
              <a:cxnLst/>
              <a:rect l="l" t="t" r="r" b="b"/>
              <a:pathLst>
                <a:path w="5856732" h="64008">
                  <a:moveTo>
                    <a:pt x="0" y="0"/>
                  </a:moveTo>
                  <a:lnTo>
                    <a:pt x="5856732" y="0"/>
                  </a:lnTo>
                  <a:lnTo>
                    <a:pt x="5856732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588824" y="4118019"/>
            <a:ext cx="3980755" cy="439255"/>
            <a:chOff x="0" y="0"/>
            <a:chExt cx="5307673" cy="58567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Portfolio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88824" y="4708265"/>
            <a:ext cx="4804353" cy="549069"/>
            <a:chOff x="0" y="0"/>
            <a:chExt cx="6405804" cy="7320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05805" cy="732092"/>
            </a:xfrm>
            <a:custGeom>
              <a:avLst/>
              <a:gdLst/>
              <a:ahLst/>
              <a:cxnLst/>
              <a:rect l="l" t="t" r="r" b="b"/>
              <a:pathLst>
                <a:path w="6405805" h="732092">
                  <a:moveTo>
                    <a:pt x="0" y="0"/>
                  </a:moveTo>
                  <a:lnTo>
                    <a:pt x="6405805" y="0"/>
                  </a:lnTo>
                  <a:lnTo>
                    <a:pt x="640580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640580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Holdings • Wallet • P&amp;L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88824" y="5353421"/>
            <a:ext cx="4392549" cy="48044"/>
            <a:chOff x="0" y="0"/>
            <a:chExt cx="5856732" cy="640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856732" cy="64008"/>
            </a:xfrm>
            <a:custGeom>
              <a:avLst/>
              <a:gdLst/>
              <a:ahLst/>
              <a:cxnLst/>
              <a:rect l="l" t="t" r="r" b="b"/>
              <a:pathLst>
                <a:path w="5856732" h="64008">
                  <a:moveTo>
                    <a:pt x="0" y="0"/>
                  </a:moveTo>
                  <a:lnTo>
                    <a:pt x="5856732" y="0"/>
                  </a:lnTo>
                  <a:lnTo>
                    <a:pt x="5856732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66774" y="6108392"/>
            <a:ext cx="3980755" cy="439255"/>
            <a:chOff x="0" y="0"/>
            <a:chExt cx="5307673" cy="58567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History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6774" y="6698637"/>
            <a:ext cx="4804353" cy="549069"/>
            <a:chOff x="0" y="0"/>
            <a:chExt cx="6405804" cy="7320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405805" cy="732092"/>
            </a:xfrm>
            <a:custGeom>
              <a:avLst/>
              <a:gdLst/>
              <a:ahLst/>
              <a:cxnLst/>
              <a:rect l="l" t="t" r="r" b="b"/>
              <a:pathLst>
                <a:path w="6405805" h="732092">
                  <a:moveTo>
                    <a:pt x="0" y="0"/>
                  </a:moveTo>
                  <a:lnTo>
                    <a:pt x="6405805" y="0"/>
                  </a:lnTo>
                  <a:lnTo>
                    <a:pt x="640580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640580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Orders • Transactions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66774" y="7343794"/>
            <a:ext cx="4392549" cy="48044"/>
            <a:chOff x="0" y="0"/>
            <a:chExt cx="5856732" cy="6405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856732" cy="64008"/>
            </a:xfrm>
            <a:custGeom>
              <a:avLst/>
              <a:gdLst/>
              <a:ahLst/>
              <a:cxnLst/>
              <a:rect l="l" t="t" r="r" b="b"/>
              <a:pathLst>
                <a:path w="5856732" h="64008">
                  <a:moveTo>
                    <a:pt x="0" y="0"/>
                  </a:moveTo>
                  <a:lnTo>
                    <a:pt x="5856732" y="0"/>
                  </a:lnTo>
                  <a:lnTo>
                    <a:pt x="5856732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588824" y="6108392"/>
            <a:ext cx="3980755" cy="439255"/>
            <a:chOff x="0" y="0"/>
            <a:chExt cx="5307673" cy="58567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Analytics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88824" y="6698637"/>
            <a:ext cx="4804353" cy="549069"/>
            <a:chOff x="0" y="0"/>
            <a:chExt cx="6405804" cy="7320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05805" cy="732092"/>
            </a:xfrm>
            <a:custGeom>
              <a:avLst/>
              <a:gdLst/>
              <a:ahLst/>
              <a:cxnLst/>
              <a:rect l="l" t="t" r="r" b="b"/>
              <a:pathLst>
                <a:path w="6405805" h="732092">
                  <a:moveTo>
                    <a:pt x="0" y="0"/>
                  </a:moveTo>
                  <a:lnTo>
                    <a:pt x="6405805" y="0"/>
                  </a:lnTo>
                  <a:lnTo>
                    <a:pt x="640580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640580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Watchlist • Performance • Journal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588824" y="7343794"/>
            <a:ext cx="4392549" cy="48044"/>
            <a:chOff x="0" y="0"/>
            <a:chExt cx="5856732" cy="6405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856732" cy="64008"/>
            </a:xfrm>
            <a:custGeom>
              <a:avLst/>
              <a:gdLst/>
              <a:ahLst/>
              <a:cxnLst/>
              <a:rect l="l" t="t" r="r" b="b"/>
              <a:pathLst>
                <a:path w="5856732" h="64008">
                  <a:moveTo>
                    <a:pt x="0" y="0"/>
                  </a:moveTo>
                  <a:lnTo>
                    <a:pt x="5856732" y="0"/>
                  </a:lnTo>
                  <a:lnTo>
                    <a:pt x="5856732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 / Data Model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Conceptual MongoDB entities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127647"/>
            <a:ext cx="1853108" cy="411804"/>
            <a:chOff x="0" y="0"/>
            <a:chExt cx="2470810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70810" cy="549069"/>
            </a:xfrm>
            <a:custGeom>
              <a:avLst/>
              <a:gdLst/>
              <a:ahLst/>
              <a:cxnLst/>
              <a:rect l="l" t="t" r="r" b="b"/>
              <a:pathLst>
                <a:path w="2470810" h="549069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729951"/>
            <a:ext cx="7000627" cy="686333"/>
            <a:chOff x="0" y="0"/>
            <a:chExt cx="9334170" cy="9151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4172" cy="915115"/>
            </a:xfrm>
            <a:custGeom>
              <a:avLst/>
              <a:gdLst/>
              <a:ahLst/>
              <a:cxnLst/>
              <a:rect l="l" t="t" r="r" b="b"/>
              <a:pathLst>
                <a:path w="9334172" h="915115">
                  <a:moveTo>
                    <a:pt x="0" y="0"/>
                  </a:moveTo>
                  <a:lnTo>
                    <a:pt x="9334172" y="0"/>
                  </a:lnTo>
                  <a:lnTo>
                    <a:pt x="933417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33417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userId • email • password • virtualBalance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774" y="3431681"/>
            <a:ext cx="8236039" cy="48044"/>
            <a:chOff x="0" y="0"/>
            <a:chExt cx="10981385" cy="64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4" y="2127647"/>
            <a:ext cx="1853108" cy="411804"/>
            <a:chOff x="0" y="0"/>
            <a:chExt cx="2470810" cy="549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70810" cy="549069"/>
            </a:xfrm>
            <a:custGeom>
              <a:avLst/>
              <a:gdLst/>
              <a:ahLst/>
              <a:cxnLst/>
              <a:rect l="l" t="t" r="r" b="b"/>
              <a:pathLst>
                <a:path w="2470810" h="549069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PORTFOLIO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88823" y="2678673"/>
            <a:ext cx="7000627" cy="686333"/>
            <a:chOff x="0" y="0"/>
            <a:chExt cx="9334170" cy="9151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34172" cy="915115"/>
            </a:xfrm>
            <a:custGeom>
              <a:avLst/>
              <a:gdLst/>
              <a:ahLst/>
              <a:cxnLst/>
              <a:rect l="l" t="t" r="r" b="b"/>
              <a:pathLst>
                <a:path w="9334172" h="915115">
                  <a:moveTo>
                    <a:pt x="0" y="0"/>
                  </a:moveTo>
                  <a:lnTo>
                    <a:pt x="9334172" y="0"/>
                  </a:lnTo>
                  <a:lnTo>
                    <a:pt x="933417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933417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userId • holdings • averagePrice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6774" y="3980755"/>
            <a:ext cx="1853108" cy="411804"/>
            <a:chOff x="0" y="0"/>
            <a:chExt cx="2470810" cy="5490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70810" cy="549069"/>
            </a:xfrm>
            <a:custGeom>
              <a:avLst/>
              <a:gdLst/>
              <a:ahLst/>
              <a:cxnLst/>
              <a:rect l="l" t="t" r="r" b="b"/>
              <a:pathLst>
                <a:path w="2470810" h="549069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66774" y="4394511"/>
            <a:ext cx="7000627" cy="686333"/>
            <a:chOff x="0" y="0"/>
            <a:chExt cx="9334170" cy="9151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334172" cy="915115"/>
            </a:xfrm>
            <a:custGeom>
              <a:avLst/>
              <a:gdLst/>
              <a:ahLst/>
              <a:cxnLst/>
              <a:rect l="l" t="t" r="r" b="b"/>
              <a:pathLst>
                <a:path w="9334172" h="915115">
                  <a:moveTo>
                    <a:pt x="0" y="0"/>
                  </a:moveTo>
                  <a:lnTo>
                    <a:pt x="9334172" y="0"/>
                  </a:lnTo>
                  <a:lnTo>
                    <a:pt x="933417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933417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orderId • symbol • quantity • status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66774" y="5147520"/>
            <a:ext cx="8236039" cy="48044"/>
            <a:chOff x="0" y="0"/>
            <a:chExt cx="10981385" cy="6405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588824" y="3980755"/>
            <a:ext cx="1853108" cy="411804"/>
            <a:chOff x="0" y="0"/>
            <a:chExt cx="2470810" cy="5490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70810" cy="549069"/>
            </a:xfrm>
            <a:custGeom>
              <a:avLst/>
              <a:gdLst/>
              <a:ahLst/>
              <a:cxnLst/>
              <a:rect l="l" t="t" r="r" b="b"/>
              <a:pathLst>
                <a:path w="2470810" h="549069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WATCHLIST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88823" y="4424863"/>
            <a:ext cx="7000627" cy="686333"/>
            <a:chOff x="0" y="0"/>
            <a:chExt cx="9334170" cy="91511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334172" cy="915115"/>
            </a:xfrm>
            <a:custGeom>
              <a:avLst/>
              <a:gdLst/>
              <a:ahLst/>
              <a:cxnLst/>
              <a:rect l="l" t="t" r="r" b="b"/>
              <a:pathLst>
                <a:path w="9334172" h="915115">
                  <a:moveTo>
                    <a:pt x="0" y="0"/>
                  </a:moveTo>
                  <a:lnTo>
                    <a:pt x="9334172" y="0"/>
                  </a:lnTo>
                  <a:lnTo>
                    <a:pt x="933417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933417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userId • symbols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88824" y="5143500"/>
            <a:ext cx="8236039" cy="48044"/>
            <a:chOff x="0" y="0"/>
            <a:chExt cx="10981385" cy="6405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66774" y="5833853"/>
            <a:ext cx="1853108" cy="411804"/>
            <a:chOff x="0" y="0"/>
            <a:chExt cx="2470810" cy="5490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70810" cy="549069"/>
            </a:xfrm>
            <a:custGeom>
              <a:avLst/>
              <a:gdLst/>
              <a:ahLst/>
              <a:cxnLst/>
              <a:rect l="l" t="t" r="r" b="b"/>
              <a:pathLst>
                <a:path w="2470810" h="549069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TRANSACTION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66774" y="6407658"/>
            <a:ext cx="7000627" cy="686333"/>
            <a:chOff x="0" y="0"/>
            <a:chExt cx="9334170" cy="91511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334172" cy="915115"/>
            </a:xfrm>
            <a:custGeom>
              <a:avLst/>
              <a:gdLst/>
              <a:ahLst/>
              <a:cxnLst/>
              <a:rect l="l" t="t" r="r" b="b"/>
              <a:pathLst>
                <a:path w="9334172" h="915115">
                  <a:moveTo>
                    <a:pt x="0" y="0"/>
                  </a:moveTo>
                  <a:lnTo>
                    <a:pt x="9334172" y="0"/>
                  </a:lnTo>
                  <a:lnTo>
                    <a:pt x="933417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933417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transactionId • userId • symbol • type • price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66774" y="7255993"/>
            <a:ext cx="8236039" cy="48044"/>
            <a:chOff x="0" y="0"/>
            <a:chExt cx="10981385" cy="6405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6588824" y="5833853"/>
            <a:ext cx="1853108" cy="411804"/>
            <a:chOff x="0" y="0"/>
            <a:chExt cx="2470810" cy="54907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470810" cy="549069"/>
            </a:xfrm>
            <a:custGeom>
              <a:avLst/>
              <a:gdLst/>
              <a:ahLst/>
              <a:cxnLst/>
              <a:rect l="l" t="t" r="r" b="b"/>
              <a:pathLst>
                <a:path w="2470810" h="549069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JOURNAL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588824" y="6388532"/>
            <a:ext cx="7000627" cy="686333"/>
            <a:chOff x="0" y="0"/>
            <a:chExt cx="9334170" cy="91511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334172" cy="915115"/>
            </a:xfrm>
            <a:custGeom>
              <a:avLst/>
              <a:gdLst/>
              <a:ahLst/>
              <a:cxnLst/>
              <a:rect l="l" t="t" r="r" b="b"/>
              <a:pathLst>
                <a:path w="9334172" h="915115">
                  <a:moveTo>
                    <a:pt x="0" y="0"/>
                  </a:moveTo>
                  <a:lnTo>
                    <a:pt x="9334172" y="0"/>
                  </a:lnTo>
                  <a:lnTo>
                    <a:pt x="933417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933417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tradeId • reasoning • notes • timestamp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588823" y="7255993"/>
            <a:ext cx="8236039" cy="48044"/>
            <a:chOff x="0" y="0"/>
            <a:chExt cx="10981385" cy="6405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304039" y="8167402"/>
            <a:ext cx="9608706" cy="480431"/>
            <a:chOff x="0" y="0"/>
            <a:chExt cx="12811608" cy="64057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2811609" cy="640580"/>
            </a:xfrm>
            <a:custGeom>
              <a:avLst/>
              <a:gdLst/>
              <a:ahLst/>
              <a:cxnLst/>
              <a:rect l="l" t="t" r="r" b="b"/>
              <a:pathLst>
                <a:path w="12811609" h="640580">
                  <a:moveTo>
                    <a:pt x="0" y="0"/>
                  </a:moveTo>
                  <a:lnTo>
                    <a:pt x="12811609" y="0"/>
                  </a:lnTo>
                  <a:lnTo>
                    <a:pt x="1281160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1" b="-33970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12811608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identity acts as the ownership boundary for private trading data.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588824" y="3431681"/>
            <a:ext cx="8236039" cy="48044"/>
            <a:chOff x="0" y="0"/>
            <a:chExt cx="10981385" cy="6405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Simulated Trading Workflow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From stock selection to portfolio update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8137" y="2127647"/>
            <a:ext cx="631431" cy="631431"/>
            <a:chOff x="0" y="0"/>
            <a:chExt cx="841908" cy="8419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98137" y="2155098"/>
            <a:ext cx="631431" cy="494167"/>
            <a:chOff x="0" y="0"/>
            <a:chExt cx="841908" cy="658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94284" y="2100186"/>
            <a:ext cx="2264912" cy="686333"/>
            <a:chOff x="0" y="0"/>
            <a:chExt cx="3019882" cy="91511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 stock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23921" y="2127647"/>
            <a:ext cx="631431" cy="631431"/>
            <a:chOff x="0" y="0"/>
            <a:chExt cx="841908" cy="8419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15B1D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323921" y="2155098"/>
            <a:ext cx="631431" cy="494167"/>
            <a:chOff x="0" y="0"/>
            <a:chExt cx="841908" cy="65888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20068" y="2100186"/>
            <a:ext cx="2264912" cy="686333"/>
            <a:chOff x="0" y="0"/>
            <a:chExt cx="3019882" cy="91511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Buy / Sell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49696" y="2127647"/>
            <a:ext cx="631431" cy="631431"/>
            <a:chOff x="0" y="0"/>
            <a:chExt cx="841908" cy="8419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00A67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549696" y="2155098"/>
            <a:ext cx="631431" cy="494167"/>
            <a:chOff x="0" y="0"/>
            <a:chExt cx="841908" cy="65888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45853" y="2100186"/>
            <a:ext cx="2264912" cy="686333"/>
            <a:chOff x="0" y="0"/>
            <a:chExt cx="3019882" cy="91511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Enter quantity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8137" y="3980755"/>
            <a:ext cx="631431" cy="631431"/>
            <a:chOff x="0" y="0"/>
            <a:chExt cx="841908" cy="8419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98137" y="4008206"/>
            <a:ext cx="631431" cy="494167"/>
            <a:chOff x="0" y="0"/>
            <a:chExt cx="841908" cy="65888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894284" y="3953294"/>
            <a:ext cx="2264912" cy="686333"/>
            <a:chOff x="0" y="0"/>
            <a:chExt cx="3019882" cy="91511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Validate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323921" y="3980755"/>
            <a:ext cx="631431" cy="631431"/>
            <a:chOff x="0" y="0"/>
            <a:chExt cx="841908" cy="8419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15B1D2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4323921" y="4008206"/>
            <a:ext cx="631431" cy="494167"/>
            <a:chOff x="0" y="0"/>
            <a:chExt cx="841908" cy="65888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20068" y="3953294"/>
            <a:ext cx="2264912" cy="686333"/>
            <a:chOff x="0" y="0"/>
            <a:chExt cx="3019882" cy="91511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Execute simulation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49696" y="3980755"/>
            <a:ext cx="631431" cy="631431"/>
            <a:chOff x="0" y="0"/>
            <a:chExt cx="841908" cy="8419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00A67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7549696" y="4008206"/>
            <a:ext cx="631431" cy="494167"/>
            <a:chOff x="0" y="0"/>
            <a:chExt cx="841908" cy="65888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345853" y="3953294"/>
            <a:ext cx="2264912" cy="686333"/>
            <a:chOff x="0" y="0"/>
            <a:chExt cx="3019882" cy="91511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wallet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98137" y="5833853"/>
            <a:ext cx="631431" cy="631431"/>
            <a:chOff x="0" y="0"/>
            <a:chExt cx="841908" cy="84190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098137" y="5861314"/>
            <a:ext cx="631431" cy="494167"/>
            <a:chOff x="0" y="0"/>
            <a:chExt cx="841908" cy="65888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894284" y="5806402"/>
            <a:ext cx="2264912" cy="686333"/>
            <a:chOff x="0" y="0"/>
            <a:chExt cx="3019882" cy="91511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portfolio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323921" y="5833853"/>
            <a:ext cx="631431" cy="631431"/>
            <a:chOff x="0" y="0"/>
            <a:chExt cx="841908" cy="84190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15B1D2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4323921" y="5861314"/>
            <a:ext cx="631431" cy="494167"/>
            <a:chOff x="0" y="0"/>
            <a:chExt cx="841908" cy="65888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120068" y="5806402"/>
            <a:ext cx="2264912" cy="686333"/>
            <a:chOff x="0" y="0"/>
            <a:chExt cx="3019882" cy="91511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Record transaction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549696" y="5833853"/>
            <a:ext cx="631431" cy="631431"/>
            <a:chOff x="0" y="0"/>
            <a:chExt cx="841908" cy="84190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41883" cy="841883"/>
            </a:xfrm>
            <a:custGeom>
              <a:avLst/>
              <a:gdLst/>
              <a:ahLst/>
              <a:cxnLst/>
              <a:rect l="l" t="t" r="r" b="b"/>
              <a:pathLst>
                <a:path w="841883" h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00A67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7549696" y="5861314"/>
            <a:ext cx="631431" cy="494167"/>
            <a:chOff x="0" y="0"/>
            <a:chExt cx="841908" cy="658889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41906" cy="658883"/>
            </a:xfrm>
            <a:custGeom>
              <a:avLst/>
              <a:gdLst/>
              <a:ahLst/>
              <a:cxnLst/>
              <a:rect l="l" t="t" r="r" b="b"/>
              <a:pathLst>
                <a:path w="841906" h="658883">
                  <a:moveTo>
                    <a:pt x="0" y="0"/>
                  </a:moveTo>
                  <a:lnTo>
                    <a:pt x="841906" y="0"/>
                  </a:lnTo>
                  <a:lnTo>
                    <a:pt x="8419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412" r="-50412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841908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45853" y="5806402"/>
            <a:ext cx="2264912" cy="686333"/>
            <a:chOff x="0" y="0"/>
            <a:chExt cx="3019882" cy="91511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019879" cy="915115"/>
            </a:xfrm>
            <a:custGeom>
              <a:avLst/>
              <a:gdLst/>
              <a:ahLst/>
              <a:cxnLst/>
              <a:rect l="l" t="t" r="r" b="b"/>
              <a:pathLst>
                <a:path w="3019879" h="915115">
                  <a:moveTo>
                    <a:pt x="0" y="0"/>
                  </a:moveTo>
                  <a:lnTo>
                    <a:pt x="3019879" y="0"/>
                  </a:lnTo>
                  <a:lnTo>
                    <a:pt x="30198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3019882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Recalculate P&amp;L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2882608" y="8236039"/>
            <a:ext cx="4461186" cy="466706"/>
            <a:chOff x="0" y="0"/>
            <a:chExt cx="5948248" cy="622275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948299" cy="622300"/>
            </a:xfrm>
            <a:custGeom>
              <a:avLst/>
              <a:gdLst/>
              <a:ahLst/>
              <a:cxnLst/>
              <a:rect l="l" t="t" r="r" b="b"/>
              <a:pathLst>
                <a:path w="5948299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844540" y="0"/>
                  </a:lnTo>
                  <a:cubicBezTo>
                    <a:pt x="5901817" y="0"/>
                    <a:pt x="5948299" y="46482"/>
                    <a:pt x="5948299" y="103759"/>
                  </a:cubicBezTo>
                  <a:lnTo>
                    <a:pt x="5948299" y="518541"/>
                  </a:lnTo>
                  <a:cubicBezTo>
                    <a:pt x="5948299" y="575818"/>
                    <a:pt x="5901817" y="622300"/>
                    <a:pt x="5844540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D5474B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2882608" y="8249764"/>
            <a:ext cx="4461186" cy="384353"/>
            <a:chOff x="0" y="0"/>
            <a:chExt cx="5948248" cy="51247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948247" cy="512464"/>
            </a:xfrm>
            <a:custGeom>
              <a:avLst/>
              <a:gdLst/>
              <a:ahLst/>
              <a:cxnLst/>
              <a:rect l="l" t="t" r="r" b="b"/>
              <a:pathLst>
                <a:path w="5948247" h="512464">
                  <a:moveTo>
                    <a:pt x="0" y="0"/>
                  </a:moveTo>
                  <a:lnTo>
                    <a:pt x="5948247" y="0"/>
                  </a:lnTo>
                  <a:lnTo>
                    <a:pt x="594824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165" b="-176166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594824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ALL OPERATIONS ARE SIMULATED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Application Screens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Recommended demo journey — replace these labels with your actual screenshots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059010"/>
            <a:ext cx="3019882" cy="411804"/>
            <a:chOff x="0" y="0"/>
            <a:chExt cx="4026510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LOGIN / REGISTER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580627"/>
            <a:ext cx="4255284" cy="480431"/>
            <a:chOff x="0" y="0"/>
            <a:chExt cx="5673712" cy="6405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774" y="3184598"/>
            <a:ext cx="4529823" cy="48044"/>
            <a:chOff x="0" y="0"/>
            <a:chExt cx="6039764" cy="64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4" y="2059010"/>
            <a:ext cx="3019882" cy="411804"/>
            <a:chOff x="0" y="0"/>
            <a:chExt cx="4026510" cy="549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88824" y="2580627"/>
            <a:ext cx="4255284" cy="480431"/>
            <a:chOff x="0" y="0"/>
            <a:chExt cx="5673712" cy="6405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88824" y="3184598"/>
            <a:ext cx="4529823" cy="48044"/>
            <a:chOff x="0" y="0"/>
            <a:chExt cx="6039764" cy="640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6774" y="3678765"/>
            <a:ext cx="3019882" cy="411804"/>
            <a:chOff x="0" y="0"/>
            <a:chExt cx="4026510" cy="549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STOCK DETAILS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6774" y="4200373"/>
            <a:ext cx="4255284" cy="480431"/>
            <a:chOff x="0" y="0"/>
            <a:chExt cx="5673712" cy="6405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6774" y="4804353"/>
            <a:ext cx="4529823" cy="48044"/>
            <a:chOff x="0" y="0"/>
            <a:chExt cx="6039764" cy="6405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588824" y="3678765"/>
            <a:ext cx="3019882" cy="411804"/>
            <a:chOff x="0" y="0"/>
            <a:chExt cx="4026510" cy="5490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88824" y="4200373"/>
            <a:ext cx="4255284" cy="480431"/>
            <a:chOff x="0" y="0"/>
            <a:chExt cx="5673712" cy="64057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88824" y="4804353"/>
            <a:ext cx="4529823" cy="48044"/>
            <a:chOff x="0" y="0"/>
            <a:chExt cx="6039764" cy="640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66774" y="5298519"/>
            <a:ext cx="3019882" cy="411804"/>
            <a:chOff x="0" y="0"/>
            <a:chExt cx="4026510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PORTFOLIO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6774" y="5820127"/>
            <a:ext cx="4255284" cy="480431"/>
            <a:chOff x="0" y="0"/>
            <a:chExt cx="5673712" cy="64057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66774" y="6424108"/>
            <a:ext cx="4529823" cy="48044"/>
            <a:chOff x="0" y="0"/>
            <a:chExt cx="6039764" cy="6405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588824" y="5298519"/>
            <a:ext cx="3019882" cy="411804"/>
            <a:chOff x="0" y="0"/>
            <a:chExt cx="4026510" cy="5490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WATCHLIST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88824" y="5820127"/>
            <a:ext cx="4255284" cy="480431"/>
            <a:chOff x="0" y="0"/>
            <a:chExt cx="5673712" cy="64057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588824" y="6424108"/>
            <a:ext cx="4529823" cy="48044"/>
            <a:chOff x="0" y="0"/>
            <a:chExt cx="6039764" cy="6405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166774" y="6918265"/>
            <a:ext cx="3019882" cy="411804"/>
            <a:chOff x="0" y="0"/>
            <a:chExt cx="4026510" cy="54907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ORDER HISTORY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66774" y="7439882"/>
            <a:ext cx="4255284" cy="480431"/>
            <a:chOff x="0" y="0"/>
            <a:chExt cx="5673712" cy="64057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66774" y="8043862"/>
            <a:ext cx="4529823" cy="48044"/>
            <a:chOff x="0" y="0"/>
            <a:chExt cx="6039764" cy="6405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6588824" y="6918265"/>
            <a:ext cx="3019882" cy="411804"/>
            <a:chOff x="0" y="0"/>
            <a:chExt cx="4026510" cy="54907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ANALYTICS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588824" y="7439882"/>
            <a:ext cx="4255284" cy="480431"/>
            <a:chOff x="0" y="0"/>
            <a:chExt cx="5673712" cy="64057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673713" cy="640580"/>
            </a:xfrm>
            <a:custGeom>
              <a:avLst/>
              <a:gdLst/>
              <a:ahLst/>
              <a:cxnLst/>
              <a:rect l="l" t="t" r="r" b="b"/>
              <a:pathLst>
                <a:path w="5673713" h="640580">
                  <a:moveTo>
                    <a:pt x="0" y="0"/>
                  </a:moveTo>
                  <a:lnTo>
                    <a:pt x="5673713" y="0"/>
                  </a:lnTo>
                  <a:lnTo>
                    <a:pt x="5673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2" b="-122581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5673712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Insert screenshot here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588824" y="8043862"/>
            <a:ext cx="4529823" cy="48044"/>
            <a:chOff x="0" y="0"/>
            <a:chExt cx="6039764" cy="64059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039739" cy="64008"/>
            </a:xfrm>
            <a:custGeom>
              <a:avLst/>
              <a:gdLst/>
              <a:ahLst/>
              <a:cxnLst/>
              <a:rect l="l" t="t" r="r" b="b"/>
              <a:pathLst>
                <a:path w="6039739" h="64008">
                  <a:moveTo>
                    <a:pt x="0" y="0"/>
                  </a:moveTo>
                  <a:lnTo>
                    <a:pt x="6039739" y="0"/>
                  </a:lnTo>
                  <a:lnTo>
                    <a:pt x="603973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304039" y="8236039"/>
            <a:ext cx="8785108" cy="480431"/>
            <a:chOff x="0" y="0"/>
            <a:chExt cx="11713477" cy="64057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1713471" cy="640580"/>
            </a:xfrm>
            <a:custGeom>
              <a:avLst/>
              <a:gdLst/>
              <a:ahLst/>
              <a:cxnLst/>
              <a:rect l="l" t="t" r="r" b="b"/>
              <a:pathLst>
                <a:path w="11713471" h="640580">
                  <a:moveTo>
                    <a:pt x="0" y="0"/>
                  </a:moveTo>
                  <a:lnTo>
                    <a:pt x="11713471" y="0"/>
                  </a:lnTo>
                  <a:lnTo>
                    <a:pt x="1171347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298" b="-30629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11713477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endParaRPr lang="en-US" sz="1801" b="1" dirty="0">
                <a:solidFill>
                  <a:srgbClr val="187DDC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 &amp; Non-Functional Requirements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Quality attributes that support a reliable web application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059010"/>
            <a:ext cx="2059010" cy="411804"/>
            <a:chOff x="0" y="0"/>
            <a:chExt cx="2745346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5345" cy="549069"/>
            </a:xfrm>
            <a:custGeom>
              <a:avLst/>
              <a:gdLst/>
              <a:ahLst/>
              <a:cxnLst/>
              <a:rect l="l" t="t" r="r" b="b"/>
              <a:pathLst>
                <a:path w="2745345" h="549069">
                  <a:moveTo>
                    <a:pt x="0" y="0"/>
                  </a:moveTo>
                  <a:lnTo>
                    <a:pt x="2745345" y="0"/>
                  </a:lnTo>
                  <a:lnTo>
                    <a:pt x="274534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7453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D547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544594"/>
            <a:ext cx="6726098" cy="686333"/>
            <a:chOff x="0" y="0"/>
            <a:chExt cx="8968130" cy="9151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968126" cy="915115"/>
            </a:xfrm>
            <a:custGeom>
              <a:avLst/>
              <a:gdLst/>
              <a:ahLst/>
              <a:cxnLst/>
              <a:rect l="l" t="t" r="r" b="b"/>
              <a:pathLst>
                <a:path w="8968126" h="915115">
                  <a:moveTo>
                    <a:pt x="0" y="0"/>
                  </a:moveTo>
                  <a:lnTo>
                    <a:pt x="8968126" y="0"/>
                  </a:lnTo>
                  <a:lnTo>
                    <a:pt x="896812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53" b="-14095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896813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Password hashing • JWT • protected APIs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774" y="3304708"/>
            <a:ext cx="8236039" cy="48044"/>
            <a:chOff x="0" y="0"/>
            <a:chExt cx="10981385" cy="64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4" y="2059010"/>
            <a:ext cx="2059010" cy="411804"/>
            <a:chOff x="0" y="0"/>
            <a:chExt cx="2745346" cy="549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45345" cy="549069"/>
            </a:xfrm>
            <a:custGeom>
              <a:avLst/>
              <a:gdLst/>
              <a:ahLst/>
              <a:cxnLst/>
              <a:rect l="l" t="t" r="r" b="b"/>
              <a:pathLst>
                <a:path w="2745345" h="549069">
                  <a:moveTo>
                    <a:pt x="0" y="0"/>
                  </a:moveTo>
                  <a:lnTo>
                    <a:pt x="2745345" y="0"/>
                  </a:lnTo>
                  <a:lnTo>
                    <a:pt x="274534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7453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88824" y="2544594"/>
            <a:ext cx="6726098" cy="686333"/>
            <a:chOff x="0" y="0"/>
            <a:chExt cx="8968130" cy="9151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968126" cy="915115"/>
            </a:xfrm>
            <a:custGeom>
              <a:avLst/>
              <a:gdLst/>
              <a:ahLst/>
              <a:cxnLst/>
              <a:rect l="l" t="t" r="r" b="b"/>
              <a:pathLst>
                <a:path w="8968126" h="915115">
                  <a:moveTo>
                    <a:pt x="0" y="0"/>
                  </a:moveTo>
                  <a:lnTo>
                    <a:pt x="8968126" y="0"/>
                  </a:lnTo>
                  <a:lnTo>
                    <a:pt x="896812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53" b="-14095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896813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Optimized API and database operations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88824" y="3304708"/>
            <a:ext cx="8236039" cy="48044"/>
            <a:chOff x="0" y="0"/>
            <a:chExt cx="10981385" cy="640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6774" y="3912118"/>
            <a:ext cx="2059010" cy="411804"/>
            <a:chOff x="0" y="0"/>
            <a:chExt cx="2745346" cy="549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45345" cy="549069"/>
            </a:xfrm>
            <a:custGeom>
              <a:avLst/>
              <a:gdLst/>
              <a:ahLst/>
              <a:cxnLst/>
              <a:rect l="l" t="t" r="r" b="b"/>
              <a:pathLst>
                <a:path w="2745345" h="549069">
                  <a:moveTo>
                    <a:pt x="0" y="0"/>
                  </a:moveTo>
                  <a:lnTo>
                    <a:pt x="2745345" y="0"/>
                  </a:lnTo>
                  <a:lnTo>
                    <a:pt x="274534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7453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Reliability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6774" y="4400121"/>
            <a:ext cx="6726098" cy="686333"/>
            <a:chOff x="0" y="0"/>
            <a:chExt cx="8968130" cy="91511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968126" cy="915115"/>
            </a:xfrm>
            <a:custGeom>
              <a:avLst/>
              <a:gdLst/>
              <a:ahLst/>
              <a:cxnLst/>
              <a:rect l="l" t="t" r="r" b="b"/>
              <a:pathLst>
                <a:path w="8968126" h="915115">
                  <a:moveTo>
                    <a:pt x="0" y="0"/>
                  </a:moveTo>
                  <a:lnTo>
                    <a:pt x="8968126" y="0"/>
                  </a:lnTo>
                  <a:lnTo>
                    <a:pt x="896812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53" b="-14095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896813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Graceful invalid-order handling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6774" y="5211270"/>
            <a:ext cx="8236039" cy="48044"/>
            <a:chOff x="0" y="0"/>
            <a:chExt cx="10981385" cy="6405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588824" y="3912118"/>
            <a:ext cx="2059010" cy="411804"/>
            <a:chOff x="0" y="0"/>
            <a:chExt cx="2745346" cy="5490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45345" cy="549069"/>
            </a:xfrm>
            <a:custGeom>
              <a:avLst/>
              <a:gdLst/>
              <a:ahLst/>
              <a:cxnLst/>
              <a:rect l="l" t="t" r="r" b="b"/>
              <a:pathLst>
                <a:path w="2745345" h="549069">
                  <a:moveTo>
                    <a:pt x="0" y="0"/>
                  </a:moveTo>
                  <a:lnTo>
                    <a:pt x="2745345" y="0"/>
                  </a:lnTo>
                  <a:lnTo>
                    <a:pt x="274534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7453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Scalability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88824" y="4400121"/>
            <a:ext cx="6726098" cy="686333"/>
            <a:chOff x="0" y="0"/>
            <a:chExt cx="8968130" cy="91511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968126" cy="915115"/>
            </a:xfrm>
            <a:custGeom>
              <a:avLst/>
              <a:gdLst/>
              <a:ahLst/>
              <a:cxnLst/>
              <a:rect l="l" t="t" r="r" b="b"/>
              <a:pathLst>
                <a:path w="8968126" h="915115">
                  <a:moveTo>
                    <a:pt x="0" y="0"/>
                  </a:moveTo>
                  <a:lnTo>
                    <a:pt x="8968126" y="0"/>
                  </a:lnTo>
                  <a:lnTo>
                    <a:pt x="896812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53" b="-14095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896813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More users, stocks and competitions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88824" y="5211270"/>
            <a:ext cx="8236039" cy="48044"/>
            <a:chOff x="0" y="0"/>
            <a:chExt cx="10981385" cy="640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66774" y="5765225"/>
            <a:ext cx="2059010" cy="411804"/>
            <a:chOff x="0" y="0"/>
            <a:chExt cx="2745346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45345" cy="549069"/>
            </a:xfrm>
            <a:custGeom>
              <a:avLst/>
              <a:gdLst/>
              <a:ahLst/>
              <a:cxnLst/>
              <a:rect l="l" t="t" r="r" b="b"/>
              <a:pathLst>
                <a:path w="2745345" h="549069">
                  <a:moveTo>
                    <a:pt x="0" y="0"/>
                  </a:moveTo>
                  <a:lnTo>
                    <a:pt x="2745345" y="0"/>
                  </a:lnTo>
                  <a:lnTo>
                    <a:pt x="274534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7453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Usability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6774" y="6300854"/>
            <a:ext cx="6726098" cy="686333"/>
            <a:chOff x="0" y="0"/>
            <a:chExt cx="8968130" cy="91511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968126" cy="915115"/>
            </a:xfrm>
            <a:custGeom>
              <a:avLst/>
              <a:gdLst/>
              <a:ahLst/>
              <a:cxnLst/>
              <a:rect l="l" t="t" r="r" b="b"/>
              <a:pathLst>
                <a:path w="8968126" h="915115">
                  <a:moveTo>
                    <a:pt x="0" y="0"/>
                  </a:moveTo>
                  <a:lnTo>
                    <a:pt x="8968126" y="0"/>
                  </a:lnTo>
                  <a:lnTo>
                    <a:pt x="896812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53" b="-14095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896813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Responsive and understandable UI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66774" y="7064378"/>
            <a:ext cx="8236039" cy="48044"/>
            <a:chOff x="0" y="0"/>
            <a:chExt cx="10981385" cy="6405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588824" y="5765225"/>
            <a:ext cx="2059010" cy="411804"/>
            <a:chOff x="0" y="0"/>
            <a:chExt cx="2745346" cy="5490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745345" cy="549069"/>
            </a:xfrm>
            <a:custGeom>
              <a:avLst/>
              <a:gdLst/>
              <a:ahLst/>
              <a:cxnLst/>
              <a:rect l="l" t="t" r="r" b="b"/>
              <a:pathLst>
                <a:path w="2745345" h="549069">
                  <a:moveTo>
                    <a:pt x="0" y="0"/>
                  </a:moveTo>
                  <a:lnTo>
                    <a:pt x="2745345" y="0"/>
                  </a:lnTo>
                  <a:lnTo>
                    <a:pt x="274534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27453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Maintainability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88824" y="6253229"/>
            <a:ext cx="6726098" cy="686333"/>
            <a:chOff x="0" y="0"/>
            <a:chExt cx="8968130" cy="91511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968126" cy="915115"/>
            </a:xfrm>
            <a:custGeom>
              <a:avLst/>
              <a:gdLst/>
              <a:ahLst/>
              <a:cxnLst/>
              <a:rect l="l" t="t" r="r" b="b"/>
              <a:pathLst>
                <a:path w="8968126" h="915115">
                  <a:moveTo>
                    <a:pt x="0" y="0"/>
                  </a:moveTo>
                  <a:lnTo>
                    <a:pt x="8968126" y="0"/>
                  </a:lnTo>
                  <a:lnTo>
                    <a:pt x="896812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53" b="-14095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8968130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112F4C"/>
                  </a:solidFill>
                  <a:latin typeface="Aptos"/>
                  <a:ea typeface="Aptos"/>
                  <a:cs typeface="Aptos"/>
                  <a:sym typeface="Aptos"/>
                </a:rPr>
                <a:t>Modular frontend, backend and business logic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588824" y="7040356"/>
            <a:ext cx="8236039" cy="48044"/>
            <a:chOff x="0" y="0"/>
            <a:chExt cx="10981385" cy="6405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981436" cy="64008"/>
            </a:xfrm>
            <a:custGeom>
              <a:avLst/>
              <a:gdLst/>
              <a:ahLst/>
              <a:cxnLst/>
              <a:rect l="l" t="t" r="r" b="b"/>
              <a:pathLst>
                <a:path w="10981436" h="64008">
                  <a:moveTo>
                    <a:pt x="0" y="0"/>
                  </a:moveTo>
                  <a:lnTo>
                    <a:pt x="10981436" y="0"/>
                  </a:lnTo>
                  <a:lnTo>
                    <a:pt x="10981436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 vs Future 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Core functionality first; advanced functionality can follow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127647"/>
            <a:ext cx="3431677" cy="549069"/>
            <a:chOff x="0" y="0"/>
            <a:chExt cx="4575569" cy="7320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5575" cy="732092"/>
            </a:xfrm>
            <a:custGeom>
              <a:avLst/>
              <a:gdLst/>
              <a:ahLst/>
              <a:cxnLst/>
              <a:rect l="l" t="t" r="r" b="b"/>
              <a:pathLst>
                <a:path w="4575575" h="732092">
                  <a:moveTo>
                    <a:pt x="0" y="0"/>
                  </a:moveTo>
                  <a:lnTo>
                    <a:pt x="4575575" y="0"/>
                  </a:lnTo>
                  <a:lnTo>
                    <a:pt x="457557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4575569" cy="732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 / CORE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745343"/>
            <a:ext cx="1509941" cy="48044"/>
            <a:chOff x="0" y="0"/>
            <a:chExt cx="2013255" cy="640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13204" cy="64008"/>
            </a:xfrm>
            <a:custGeom>
              <a:avLst/>
              <a:gdLst/>
              <a:ahLst/>
              <a:cxnLst/>
              <a:rect l="l" t="t" r="r" b="b"/>
              <a:pathLst>
                <a:path w="2013204" h="64008">
                  <a:moveTo>
                    <a:pt x="0" y="0"/>
                  </a:moveTo>
                  <a:lnTo>
                    <a:pt x="2013204" y="0"/>
                  </a:lnTo>
                  <a:lnTo>
                    <a:pt x="2013204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00A67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35402" y="3088510"/>
            <a:ext cx="274539" cy="411804"/>
            <a:chOff x="0" y="0"/>
            <a:chExt cx="366052" cy="5490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78569" y="3088510"/>
            <a:ext cx="7618333" cy="576520"/>
            <a:chOff x="0" y="0"/>
            <a:chExt cx="10157778" cy="76869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Registration &amp; Login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5402" y="3678765"/>
            <a:ext cx="274539" cy="411804"/>
            <a:chOff x="0" y="0"/>
            <a:chExt cx="366052" cy="5490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78569" y="3678765"/>
            <a:ext cx="7618333" cy="576520"/>
            <a:chOff x="0" y="0"/>
            <a:chExt cx="10157778" cy="7686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Dashboard &amp; market indices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5402" y="4269010"/>
            <a:ext cx="274539" cy="411804"/>
            <a:chOff x="0" y="0"/>
            <a:chExt cx="366052" cy="549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78569" y="4269010"/>
            <a:ext cx="7618333" cy="576520"/>
            <a:chOff x="0" y="0"/>
            <a:chExt cx="10157778" cy="76869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Stock search &amp; details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5402" y="4859264"/>
            <a:ext cx="274539" cy="411804"/>
            <a:chOff x="0" y="0"/>
            <a:chExt cx="366052" cy="5490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78569" y="4859264"/>
            <a:ext cx="7618333" cy="576520"/>
            <a:chOff x="0" y="0"/>
            <a:chExt cx="10157778" cy="76869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Historical charts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35402" y="5449510"/>
            <a:ext cx="274539" cy="411804"/>
            <a:chOff x="0" y="0"/>
            <a:chExt cx="366052" cy="54907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78569" y="5449510"/>
            <a:ext cx="7618333" cy="576520"/>
            <a:chOff x="0" y="0"/>
            <a:chExt cx="10157778" cy="76869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Virtual wallet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5402" y="6039755"/>
            <a:ext cx="274539" cy="411804"/>
            <a:chOff x="0" y="0"/>
            <a:chExt cx="366052" cy="54907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78569" y="6039755"/>
            <a:ext cx="7618333" cy="576520"/>
            <a:chOff x="0" y="0"/>
            <a:chExt cx="10157778" cy="76869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Buy / Sell simulation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35402" y="6630010"/>
            <a:ext cx="274539" cy="411804"/>
            <a:chOff x="0" y="0"/>
            <a:chExt cx="366052" cy="5490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78569" y="6630010"/>
            <a:ext cx="7618333" cy="576520"/>
            <a:chOff x="0" y="0"/>
            <a:chExt cx="10157778" cy="76869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Portfolio &amp; P&amp;L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35402" y="7220255"/>
            <a:ext cx="274539" cy="411804"/>
            <a:chOff x="0" y="0"/>
            <a:chExt cx="366052" cy="5490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78569" y="7220255"/>
            <a:ext cx="7618333" cy="576520"/>
            <a:chOff x="0" y="0"/>
            <a:chExt cx="10157778" cy="76869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Order &amp; transaction history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35402" y="7810510"/>
            <a:ext cx="274539" cy="411804"/>
            <a:chOff x="0" y="0"/>
            <a:chExt cx="366052" cy="54907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78569" y="7810510"/>
            <a:ext cx="7618333" cy="576520"/>
            <a:chOff x="0" y="0"/>
            <a:chExt cx="10157778" cy="76869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157776" cy="768697"/>
            </a:xfrm>
            <a:custGeom>
              <a:avLst/>
              <a:gdLst/>
              <a:ahLst/>
              <a:cxnLst/>
              <a:rect l="l" t="t" r="r" b="b"/>
              <a:pathLst>
                <a:path w="10157776" h="768697">
                  <a:moveTo>
                    <a:pt x="0" y="0"/>
                  </a:moveTo>
                  <a:lnTo>
                    <a:pt x="10157776" y="0"/>
                  </a:lnTo>
                  <a:lnTo>
                    <a:pt x="1015777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81" b="-20748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10157778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Watchlist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73304" y="2127647"/>
            <a:ext cx="4255284" cy="549069"/>
            <a:chOff x="0" y="0"/>
            <a:chExt cx="5673712" cy="7320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673713" cy="732092"/>
            </a:xfrm>
            <a:custGeom>
              <a:avLst/>
              <a:gdLst/>
              <a:ahLst/>
              <a:cxnLst/>
              <a:rect l="l" t="t" r="r" b="b"/>
              <a:pathLst>
                <a:path w="5673713" h="732092">
                  <a:moveTo>
                    <a:pt x="0" y="0"/>
                  </a:moveTo>
                  <a:lnTo>
                    <a:pt x="5673713" y="0"/>
                  </a:lnTo>
                  <a:lnTo>
                    <a:pt x="567371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009" b="-101009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5673712" cy="732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FUTURE / ADVANCED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373304" y="2745343"/>
            <a:ext cx="1853108" cy="48044"/>
            <a:chOff x="0" y="0"/>
            <a:chExt cx="2470810" cy="64059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470785" cy="64008"/>
            </a:xfrm>
            <a:custGeom>
              <a:avLst/>
              <a:gdLst/>
              <a:ahLst/>
              <a:cxnLst/>
              <a:rect l="l" t="t" r="r" b="b"/>
              <a:pathLst>
                <a:path w="2470785" h="64008">
                  <a:moveTo>
                    <a:pt x="0" y="0"/>
                  </a:moveTo>
                  <a:lnTo>
                    <a:pt x="2470785" y="0"/>
                  </a:lnTo>
                  <a:lnTo>
                    <a:pt x="2470785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187DDC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441931" y="3088510"/>
            <a:ext cx="274539" cy="411804"/>
            <a:chOff x="0" y="0"/>
            <a:chExt cx="366052" cy="54907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785108" y="3088510"/>
            <a:ext cx="7481068" cy="576520"/>
            <a:chOff x="0" y="0"/>
            <a:chExt cx="9974758" cy="76869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Limit orders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441931" y="3596402"/>
            <a:ext cx="274539" cy="411804"/>
            <a:chOff x="0" y="0"/>
            <a:chExt cx="366052" cy="54907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785108" y="3596402"/>
            <a:ext cx="7481068" cy="576520"/>
            <a:chOff x="0" y="0"/>
            <a:chExt cx="9974758" cy="76869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Stop-loss automation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441931" y="4104294"/>
            <a:ext cx="274539" cy="411804"/>
            <a:chOff x="0" y="0"/>
            <a:chExt cx="366052" cy="54907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785108" y="4104294"/>
            <a:ext cx="7481068" cy="576520"/>
            <a:chOff x="0" y="0"/>
            <a:chExt cx="9974758" cy="768693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Notifications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441931" y="4612176"/>
            <a:ext cx="274539" cy="411804"/>
            <a:chOff x="0" y="0"/>
            <a:chExt cx="366052" cy="54907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785108" y="4612176"/>
            <a:ext cx="7481068" cy="576520"/>
            <a:chOff x="0" y="0"/>
            <a:chExt cx="9974758" cy="768693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Trading analytics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8441931" y="5120068"/>
            <a:ext cx="274539" cy="411804"/>
            <a:chOff x="0" y="0"/>
            <a:chExt cx="366052" cy="54907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785108" y="5120068"/>
            <a:ext cx="7481068" cy="576520"/>
            <a:chOff x="0" y="0"/>
            <a:chExt cx="9974758" cy="768693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Admin dashboard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8441931" y="5627951"/>
            <a:ext cx="274539" cy="411804"/>
            <a:chOff x="0" y="0"/>
            <a:chExt cx="366052" cy="549072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785108" y="5627951"/>
            <a:ext cx="7481068" cy="576520"/>
            <a:chOff x="0" y="0"/>
            <a:chExt cx="9974758" cy="768693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Trading journal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441931" y="6135843"/>
            <a:ext cx="274539" cy="411804"/>
            <a:chOff x="0" y="0"/>
            <a:chExt cx="366052" cy="54907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8785108" y="6135843"/>
            <a:ext cx="7481068" cy="576520"/>
            <a:chOff x="0" y="0"/>
            <a:chExt cx="9974758" cy="768693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Backtesting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8441931" y="6643735"/>
            <a:ext cx="274539" cy="411804"/>
            <a:chOff x="0" y="0"/>
            <a:chExt cx="366052" cy="54907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785108" y="6643735"/>
            <a:ext cx="7481068" cy="576520"/>
            <a:chOff x="0" y="0"/>
            <a:chExt cx="9974758" cy="768693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Challenges &amp; leaderboard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441931" y="7151627"/>
            <a:ext cx="274539" cy="411804"/>
            <a:chOff x="0" y="0"/>
            <a:chExt cx="366052" cy="549072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785108" y="7151627"/>
            <a:ext cx="7481068" cy="576520"/>
            <a:chOff x="0" y="0"/>
            <a:chExt cx="9974758" cy="768693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Risk analysis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8441931" y="7659510"/>
            <a:ext cx="274539" cy="411804"/>
            <a:chOff x="0" y="0"/>
            <a:chExt cx="366052" cy="549072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8785108" y="7659510"/>
            <a:ext cx="7481068" cy="576520"/>
            <a:chOff x="0" y="0"/>
            <a:chExt cx="9974758" cy="768693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Technical indicators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8441931" y="8167402"/>
            <a:ext cx="274539" cy="411804"/>
            <a:chOff x="0" y="0"/>
            <a:chExt cx="366052" cy="549072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366046" cy="549069"/>
            </a:xfrm>
            <a:custGeom>
              <a:avLst/>
              <a:gdLst/>
              <a:ahLst/>
              <a:cxnLst/>
              <a:rect l="l" t="t" r="r" b="b"/>
              <a:pathLst>
                <a:path w="366046" h="549069">
                  <a:moveTo>
                    <a:pt x="0" y="0"/>
                  </a:moveTo>
                  <a:lnTo>
                    <a:pt x="366046" y="0"/>
                  </a:lnTo>
                  <a:lnTo>
                    <a:pt x="3660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7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0"/>
              <a:ext cx="36605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7"/>
                </a:lnSpc>
              </a:pPr>
              <a:r>
                <a:rPr lang="en-US" sz="190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8785108" y="8167402"/>
            <a:ext cx="7481068" cy="576520"/>
            <a:chOff x="0" y="0"/>
            <a:chExt cx="9974758" cy="768693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9974753" cy="768697"/>
            </a:xfrm>
            <a:custGeom>
              <a:avLst/>
              <a:gdLst/>
              <a:ahLst/>
              <a:cxnLst/>
              <a:rect l="l" t="t" r="r" b="b"/>
              <a:pathLst>
                <a:path w="9974753" h="768697">
                  <a:moveTo>
                    <a:pt x="0" y="0"/>
                  </a:moveTo>
                  <a:lnTo>
                    <a:pt x="9974753" y="0"/>
                  </a:lnTo>
                  <a:lnTo>
                    <a:pt x="997475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41" b="-202841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0"/>
              <a:ext cx="9974758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Historical market replay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206" y="452980"/>
            <a:ext cx="11942245" cy="754971"/>
            <a:chOff x="0" y="0"/>
            <a:chExt cx="15922993" cy="10066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2999" cy="1006626"/>
            </a:xfrm>
            <a:custGeom>
              <a:avLst/>
              <a:gdLst/>
              <a:ahLst/>
              <a:cxnLst/>
              <a:rect l="l" t="t" r="r" b="b"/>
              <a:pathLst>
                <a:path w="15922999" h="1006626">
                  <a:moveTo>
                    <a:pt x="0" y="0"/>
                  </a:moveTo>
                  <a:lnTo>
                    <a:pt x="15922999" y="0"/>
                  </a:lnTo>
                  <a:lnTo>
                    <a:pt x="1592299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217" b="-25821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5922993" cy="99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Expected Outcomes &amp; Benefits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7206" y="1400127"/>
            <a:ext cx="12354049" cy="466706"/>
            <a:chOff x="0" y="0"/>
            <a:chExt cx="1647206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72069" cy="622278"/>
            </a:xfrm>
            <a:custGeom>
              <a:avLst/>
              <a:gdLst/>
              <a:ahLst/>
              <a:cxnLst/>
              <a:rect l="l" t="t" r="r" b="b"/>
              <a:pathLst>
                <a:path w="16472069" h="622278">
                  <a:moveTo>
                    <a:pt x="0" y="0"/>
                  </a:moveTo>
                  <a:lnTo>
                    <a:pt x="16472069" y="0"/>
                  </a:lnTo>
                  <a:lnTo>
                    <a:pt x="16472069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5780" b="-46578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6472065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What the project demonstrates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774" y="2127647"/>
            <a:ext cx="4392549" cy="411804"/>
            <a:chOff x="0" y="0"/>
            <a:chExt cx="5856732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85673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D547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Risk-free practice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6774" y="2717892"/>
            <a:ext cx="4872990" cy="658882"/>
            <a:chOff x="0" y="0"/>
            <a:chExt cx="6497320" cy="8785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97316" cy="878510"/>
            </a:xfrm>
            <a:custGeom>
              <a:avLst/>
              <a:gdLst/>
              <a:ahLst/>
              <a:cxnLst/>
              <a:rect l="l" t="t" r="r" b="b"/>
              <a:pathLst>
                <a:path w="6497316" h="878510">
                  <a:moveTo>
                    <a:pt x="0" y="0"/>
                  </a:moveTo>
                  <a:lnTo>
                    <a:pt x="6497316" y="0"/>
                  </a:lnTo>
                  <a:lnTo>
                    <a:pt x="649731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08" b="-9410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497320" cy="87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Safe trading practice with virtual money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774" y="3431677"/>
            <a:ext cx="4461186" cy="48044"/>
            <a:chOff x="0" y="0"/>
            <a:chExt cx="5948248" cy="640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48299" cy="64008"/>
            </a:xfrm>
            <a:custGeom>
              <a:avLst/>
              <a:gdLst/>
              <a:ahLst/>
              <a:cxnLst/>
              <a:rect l="l" t="t" r="r" b="b"/>
              <a:pathLst>
                <a:path w="5948299" h="64008">
                  <a:moveTo>
                    <a:pt x="0" y="0"/>
                  </a:moveTo>
                  <a:lnTo>
                    <a:pt x="5948299" y="0"/>
                  </a:lnTo>
                  <a:lnTo>
                    <a:pt x="594829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588824" y="2127647"/>
            <a:ext cx="4392549" cy="411804"/>
            <a:chOff x="0" y="0"/>
            <a:chExt cx="5856732" cy="5490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585673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Practical understanding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88824" y="2717892"/>
            <a:ext cx="4872990" cy="658882"/>
            <a:chOff x="0" y="0"/>
            <a:chExt cx="6497320" cy="8785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97316" cy="878510"/>
            </a:xfrm>
            <a:custGeom>
              <a:avLst/>
              <a:gdLst/>
              <a:ahLst/>
              <a:cxnLst/>
              <a:rect l="l" t="t" r="r" b="b"/>
              <a:pathLst>
                <a:path w="6497316" h="878510">
                  <a:moveTo>
                    <a:pt x="0" y="0"/>
                  </a:moveTo>
                  <a:lnTo>
                    <a:pt x="6497316" y="0"/>
                  </a:lnTo>
                  <a:lnTo>
                    <a:pt x="649731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08" b="-9410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6497320" cy="87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Order, portfolio and P&amp;L concepts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88824" y="3431677"/>
            <a:ext cx="4461186" cy="48044"/>
            <a:chOff x="0" y="0"/>
            <a:chExt cx="5948248" cy="640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48299" cy="64008"/>
            </a:xfrm>
            <a:custGeom>
              <a:avLst/>
              <a:gdLst/>
              <a:ahLst/>
              <a:cxnLst/>
              <a:rect l="l" t="t" r="r" b="b"/>
              <a:pathLst>
                <a:path w="5948299" h="64008">
                  <a:moveTo>
                    <a:pt x="0" y="0"/>
                  </a:moveTo>
                  <a:lnTo>
                    <a:pt x="5948299" y="0"/>
                  </a:lnTo>
                  <a:lnTo>
                    <a:pt x="594829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6774" y="4118019"/>
            <a:ext cx="4392549" cy="411804"/>
            <a:chOff x="0" y="0"/>
            <a:chExt cx="5856732" cy="549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85673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Automated tracking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6774" y="4708265"/>
            <a:ext cx="4872990" cy="658882"/>
            <a:chOff x="0" y="0"/>
            <a:chExt cx="6497320" cy="87851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97316" cy="878510"/>
            </a:xfrm>
            <a:custGeom>
              <a:avLst/>
              <a:gdLst/>
              <a:ahLst/>
              <a:cxnLst/>
              <a:rect l="l" t="t" r="r" b="b"/>
              <a:pathLst>
                <a:path w="6497316" h="878510">
                  <a:moveTo>
                    <a:pt x="0" y="0"/>
                  </a:moveTo>
                  <a:lnTo>
                    <a:pt x="6497316" y="0"/>
                  </a:lnTo>
                  <a:lnTo>
                    <a:pt x="649731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08" b="-9410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6497320" cy="87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Transactions and performance are recorded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6774" y="5422059"/>
            <a:ext cx="4461186" cy="48044"/>
            <a:chOff x="0" y="0"/>
            <a:chExt cx="5948248" cy="6405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948299" cy="64008"/>
            </a:xfrm>
            <a:custGeom>
              <a:avLst/>
              <a:gdLst/>
              <a:ahLst/>
              <a:cxnLst/>
              <a:rect l="l" t="t" r="r" b="b"/>
              <a:pathLst>
                <a:path w="5948299" h="64008">
                  <a:moveTo>
                    <a:pt x="0" y="0"/>
                  </a:moveTo>
                  <a:lnTo>
                    <a:pt x="5948299" y="0"/>
                  </a:lnTo>
                  <a:lnTo>
                    <a:pt x="594829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588824" y="4118019"/>
            <a:ext cx="4392549" cy="411804"/>
            <a:chOff x="0" y="0"/>
            <a:chExt cx="5856732" cy="5490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585673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Market-data integration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88824" y="4708265"/>
            <a:ext cx="4872990" cy="658882"/>
            <a:chOff x="0" y="0"/>
            <a:chExt cx="6497320" cy="87851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97316" cy="878510"/>
            </a:xfrm>
            <a:custGeom>
              <a:avLst/>
              <a:gdLst/>
              <a:ahLst/>
              <a:cxnLst/>
              <a:rect l="l" t="t" r="r" b="b"/>
              <a:pathLst>
                <a:path w="6497316" h="878510">
                  <a:moveTo>
                    <a:pt x="0" y="0"/>
                  </a:moveTo>
                  <a:lnTo>
                    <a:pt x="6497316" y="0"/>
                  </a:lnTo>
                  <a:lnTo>
                    <a:pt x="649731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08" b="-94108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6497320" cy="87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Application connects to market data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88824" y="5422059"/>
            <a:ext cx="4461186" cy="48044"/>
            <a:chOff x="0" y="0"/>
            <a:chExt cx="5948248" cy="640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948299" cy="64008"/>
            </a:xfrm>
            <a:custGeom>
              <a:avLst/>
              <a:gdLst/>
              <a:ahLst/>
              <a:cxnLst/>
              <a:rect l="l" t="t" r="r" b="b"/>
              <a:pathLst>
                <a:path w="5948299" h="64008">
                  <a:moveTo>
                    <a:pt x="0" y="0"/>
                  </a:moveTo>
                  <a:lnTo>
                    <a:pt x="5948299" y="0"/>
                  </a:lnTo>
                  <a:lnTo>
                    <a:pt x="594829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66774" y="6108392"/>
            <a:ext cx="4392549" cy="411804"/>
            <a:chOff x="0" y="0"/>
            <a:chExt cx="5856732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585673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Full-stack engineering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6774" y="6698637"/>
            <a:ext cx="4872990" cy="658882"/>
            <a:chOff x="0" y="0"/>
            <a:chExt cx="6497320" cy="87851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497316" cy="878510"/>
            </a:xfrm>
            <a:custGeom>
              <a:avLst/>
              <a:gdLst/>
              <a:ahLst/>
              <a:cxnLst/>
              <a:rect l="l" t="t" r="r" b="b"/>
              <a:pathLst>
                <a:path w="6497316" h="878510">
                  <a:moveTo>
                    <a:pt x="0" y="0"/>
                  </a:moveTo>
                  <a:lnTo>
                    <a:pt x="6497316" y="0"/>
                  </a:lnTo>
                  <a:lnTo>
                    <a:pt x="649731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08" b="-9410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6497320" cy="87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Frontend, APIs, backend and database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66774" y="7412431"/>
            <a:ext cx="4461186" cy="48044"/>
            <a:chOff x="0" y="0"/>
            <a:chExt cx="5948248" cy="6405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948299" cy="64008"/>
            </a:xfrm>
            <a:custGeom>
              <a:avLst/>
              <a:gdLst/>
              <a:ahLst/>
              <a:cxnLst/>
              <a:rect l="l" t="t" r="r" b="b"/>
              <a:pathLst>
                <a:path w="5948299" h="64008">
                  <a:moveTo>
                    <a:pt x="0" y="0"/>
                  </a:moveTo>
                  <a:lnTo>
                    <a:pt x="5948299" y="0"/>
                  </a:lnTo>
                  <a:lnTo>
                    <a:pt x="594829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588824" y="6108392"/>
            <a:ext cx="4392549" cy="411804"/>
            <a:chOff x="0" y="0"/>
            <a:chExt cx="5856732" cy="5490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585673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Future-ready foundation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588824" y="6698637"/>
            <a:ext cx="4872990" cy="658882"/>
            <a:chOff x="0" y="0"/>
            <a:chExt cx="6497320" cy="87851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97316" cy="878510"/>
            </a:xfrm>
            <a:custGeom>
              <a:avLst/>
              <a:gdLst/>
              <a:ahLst/>
              <a:cxnLst/>
              <a:rect l="l" t="t" r="r" b="b"/>
              <a:pathLst>
                <a:path w="6497316" h="878510">
                  <a:moveTo>
                    <a:pt x="0" y="0"/>
                  </a:moveTo>
                  <a:lnTo>
                    <a:pt x="6497316" y="0"/>
                  </a:lnTo>
                  <a:lnTo>
                    <a:pt x="649731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108" b="-94108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6497320" cy="87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Basis for advanced analytics and challenges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588824" y="7412431"/>
            <a:ext cx="4461186" cy="48044"/>
            <a:chOff x="0" y="0"/>
            <a:chExt cx="5948248" cy="6405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948299" cy="64008"/>
            </a:xfrm>
            <a:custGeom>
              <a:avLst/>
              <a:gdLst/>
              <a:ahLst/>
              <a:cxnLst/>
              <a:rect l="l" t="t" r="r" b="b"/>
              <a:pathLst>
                <a:path w="5948299" h="64008">
                  <a:moveTo>
                    <a:pt x="0" y="0"/>
                  </a:moveTo>
                  <a:lnTo>
                    <a:pt x="5948299" y="0"/>
                  </a:lnTo>
                  <a:lnTo>
                    <a:pt x="5948299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4DDEF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304039" y="8304667"/>
            <a:ext cx="1578569" cy="466706"/>
            <a:chOff x="0" y="0"/>
            <a:chExt cx="2104758" cy="62227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04898" cy="622300"/>
            </a:xfrm>
            <a:custGeom>
              <a:avLst/>
              <a:gdLst/>
              <a:ahLst/>
              <a:cxnLst/>
              <a:rect l="l" t="t" r="r" b="b"/>
              <a:pathLst>
                <a:path w="2104898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001139" y="0"/>
                  </a:lnTo>
                  <a:cubicBezTo>
                    <a:pt x="2058416" y="0"/>
                    <a:pt x="2104898" y="46482"/>
                    <a:pt x="2104898" y="103759"/>
                  </a:cubicBezTo>
                  <a:lnTo>
                    <a:pt x="2104898" y="518541"/>
                  </a:lnTo>
                  <a:cubicBezTo>
                    <a:pt x="2104898" y="575818"/>
                    <a:pt x="2058416" y="622300"/>
                    <a:pt x="2001139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304039" y="8318392"/>
            <a:ext cx="1578569" cy="384353"/>
            <a:chOff x="0" y="0"/>
            <a:chExt cx="2104758" cy="51247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04764" cy="512464"/>
            </a:xfrm>
            <a:custGeom>
              <a:avLst/>
              <a:gdLst/>
              <a:ahLst/>
              <a:cxnLst/>
              <a:rect l="l" t="t" r="r" b="b"/>
              <a:pathLst>
                <a:path w="2104764" h="512464">
                  <a:moveTo>
                    <a:pt x="0" y="0"/>
                  </a:moveTo>
                  <a:lnTo>
                    <a:pt x="2104764" y="0"/>
                  </a:lnTo>
                  <a:lnTo>
                    <a:pt x="210476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27" b="-3002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21047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088510" y="8304667"/>
            <a:ext cx="2264912" cy="466706"/>
            <a:chOff x="0" y="0"/>
            <a:chExt cx="3019882" cy="6222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019933" cy="622300"/>
            </a:xfrm>
            <a:custGeom>
              <a:avLst/>
              <a:gdLst/>
              <a:ahLst/>
              <a:cxnLst/>
              <a:rect l="l" t="t" r="r" b="b"/>
              <a:pathLst>
                <a:path w="3019933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916174" y="0"/>
                  </a:lnTo>
                  <a:cubicBezTo>
                    <a:pt x="2973451" y="0"/>
                    <a:pt x="3019933" y="46482"/>
                    <a:pt x="3019933" y="103759"/>
                  </a:cubicBezTo>
                  <a:lnTo>
                    <a:pt x="3019933" y="518541"/>
                  </a:lnTo>
                  <a:cubicBezTo>
                    <a:pt x="3019933" y="575818"/>
                    <a:pt x="2973451" y="622300"/>
                    <a:pt x="2916174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3088510" y="8318392"/>
            <a:ext cx="2264912" cy="384353"/>
            <a:chOff x="0" y="0"/>
            <a:chExt cx="3019882" cy="51247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019879" cy="512464"/>
            </a:xfrm>
            <a:custGeom>
              <a:avLst/>
              <a:gdLst/>
              <a:ahLst/>
              <a:cxnLst/>
              <a:rect l="l" t="t" r="r" b="b"/>
              <a:pathLst>
                <a:path w="3019879" h="512464">
                  <a:moveTo>
                    <a:pt x="0" y="0"/>
                  </a:moveTo>
                  <a:lnTo>
                    <a:pt x="3019879" y="0"/>
                  </a:lnTo>
                  <a:lnTo>
                    <a:pt x="301987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822" b="-6482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 DEVELOPMENT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59323" y="8304667"/>
            <a:ext cx="1098137" cy="466706"/>
            <a:chOff x="0" y="0"/>
            <a:chExt cx="1464183" cy="622275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464310" cy="622300"/>
            </a:xfrm>
            <a:custGeom>
              <a:avLst/>
              <a:gdLst/>
              <a:ahLst/>
              <a:cxnLst/>
              <a:rect l="l" t="t" r="r" b="b"/>
              <a:pathLst>
                <a:path w="1464310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360551" y="0"/>
                  </a:lnTo>
                  <a:cubicBezTo>
                    <a:pt x="1417828" y="0"/>
                    <a:pt x="1464310" y="46482"/>
                    <a:pt x="1464310" y="103759"/>
                  </a:cubicBezTo>
                  <a:lnTo>
                    <a:pt x="1464310" y="518541"/>
                  </a:lnTo>
                  <a:cubicBezTo>
                    <a:pt x="1464310" y="575818"/>
                    <a:pt x="1417828" y="622300"/>
                    <a:pt x="136055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5559323" y="8318392"/>
            <a:ext cx="1098137" cy="384353"/>
            <a:chOff x="0" y="0"/>
            <a:chExt cx="1464183" cy="51247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464184" cy="512464"/>
            </a:xfrm>
            <a:custGeom>
              <a:avLst/>
              <a:gdLst/>
              <a:ahLst/>
              <a:cxnLst/>
              <a:rect l="l" t="t" r="r" b="b"/>
              <a:pathLst>
                <a:path w="1464184" h="512464">
                  <a:moveTo>
                    <a:pt x="0" y="0"/>
                  </a:moveTo>
                  <a:lnTo>
                    <a:pt x="1464184" y="0"/>
                  </a:lnTo>
                  <a:lnTo>
                    <a:pt x="146418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0" b="-5672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46418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835912" y="8304667"/>
            <a:ext cx="1578569" cy="466706"/>
            <a:chOff x="0" y="0"/>
            <a:chExt cx="2104758" cy="622275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104898" cy="622300"/>
            </a:xfrm>
            <a:custGeom>
              <a:avLst/>
              <a:gdLst/>
              <a:ahLst/>
              <a:cxnLst/>
              <a:rect l="l" t="t" r="r" b="b"/>
              <a:pathLst>
                <a:path w="2104898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001139" y="0"/>
                  </a:lnTo>
                  <a:cubicBezTo>
                    <a:pt x="2058416" y="0"/>
                    <a:pt x="2104898" y="46482"/>
                    <a:pt x="2104898" y="103759"/>
                  </a:cubicBezTo>
                  <a:lnTo>
                    <a:pt x="2104898" y="518541"/>
                  </a:lnTo>
                  <a:cubicBezTo>
                    <a:pt x="2104898" y="575818"/>
                    <a:pt x="2058416" y="622300"/>
                    <a:pt x="2001139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6835912" y="8318392"/>
            <a:ext cx="1578569" cy="384353"/>
            <a:chOff x="0" y="0"/>
            <a:chExt cx="2104758" cy="51247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104764" cy="512464"/>
            </a:xfrm>
            <a:custGeom>
              <a:avLst/>
              <a:gdLst/>
              <a:ahLst/>
              <a:cxnLst/>
              <a:rect l="l" t="t" r="r" b="b"/>
              <a:pathLst>
                <a:path w="2104764" h="512464">
                  <a:moveTo>
                    <a:pt x="0" y="0"/>
                  </a:moveTo>
                  <a:lnTo>
                    <a:pt x="2104764" y="0"/>
                  </a:lnTo>
                  <a:lnTo>
                    <a:pt x="210476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27" b="-30028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210475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579206" y="8304667"/>
            <a:ext cx="1441304" cy="466706"/>
            <a:chOff x="0" y="0"/>
            <a:chExt cx="1921739" cy="62227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921764" cy="622300"/>
            </a:xfrm>
            <a:custGeom>
              <a:avLst/>
              <a:gdLst/>
              <a:ahLst/>
              <a:cxnLst/>
              <a:rect l="l" t="t" r="r" b="b"/>
              <a:pathLst>
                <a:path w="1921764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818005" y="0"/>
                  </a:lnTo>
                  <a:cubicBezTo>
                    <a:pt x="1875282" y="0"/>
                    <a:pt x="1921764" y="46482"/>
                    <a:pt x="1921764" y="103759"/>
                  </a:cubicBezTo>
                  <a:lnTo>
                    <a:pt x="1921764" y="518541"/>
                  </a:lnTo>
                  <a:cubicBezTo>
                    <a:pt x="1921764" y="575818"/>
                    <a:pt x="1875282" y="622300"/>
                    <a:pt x="1818005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8579206" y="8318392"/>
            <a:ext cx="1441304" cy="384353"/>
            <a:chOff x="0" y="0"/>
            <a:chExt cx="1921739" cy="51247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921741" cy="512464"/>
            </a:xfrm>
            <a:custGeom>
              <a:avLst/>
              <a:gdLst/>
              <a:ahLst/>
              <a:cxnLst/>
              <a:rect l="l" t="t" r="r" b="b"/>
              <a:pathLst>
                <a:path w="1921741" h="512464">
                  <a:moveTo>
                    <a:pt x="0" y="0"/>
                  </a:moveTo>
                  <a:lnTo>
                    <a:pt x="1921741" y="0"/>
                  </a:lnTo>
                  <a:lnTo>
                    <a:pt x="192174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9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1921739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D547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2833" y="1365999"/>
            <a:ext cx="8729815" cy="7151246"/>
            <a:chOff x="0" y="0"/>
            <a:chExt cx="11639753" cy="95349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39677" cy="9534906"/>
            </a:xfrm>
            <a:custGeom>
              <a:avLst/>
              <a:gdLst/>
              <a:ahLst/>
              <a:cxnLst/>
              <a:rect l="l" t="t" r="r" b="b"/>
              <a:pathLst>
                <a:path w="11639677" h="9534906">
                  <a:moveTo>
                    <a:pt x="0" y="1589151"/>
                  </a:moveTo>
                  <a:cubicBezTo>
                    <a:pt x="0" y="711454"/>
                    <a:pt x="711454" y="0"/>
                    <a:pt x="1589151" y="0"/>
                  </a:cubicBezTo>
                  <a:lnTo>
                    <a:pt x="10050526" y="0"/>
                  </a:lnTo>
                  <a:cubicBezTo>
                    <a:pt x="10928223" y="0"/>
                    <a:pt x="11639677" y="711454"/>
                    <a:pt x="11639677" y="1589151"/>
                  </a:cubicBezTo>
                  <a:lnTo>
                    <a:pt x="11639677" y="7945755"/>
                  </a:lnTo>
                  <a:cubicBezTo>
                    <a:pt x="11639677" y="8823452"/>
                    <a:pt x="10928223" y="9534906"/>
                    <a:pt x="10050526" y="9534906"/>
                  </a:cubicBezTo>
                  <a:lnTo>
                    <a:pt x="1589151" y="9534906"/>
                  </a:lnTo>
                  <a:cubicBezTo>
                    <a:pt x="711454" y="9535033"/>
                    <a:pt x="0" y="8823452"/>
                    <a:pt x="0" y="7945755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441304" y="2059010"/>
            <a:ext cx="7275166" cy="754971"/>
            <a:chOff x="0" y="0"/>
            <a:chExt cx="9700222" cy="100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00218" cy="1006626"/>
            </a:xfrm>
            <a:custGeom>
              <a:avLst/>
              <a:gdLst/>
              <a:ahLst/>
              <a:cxnLst/>
              <a:rect l="l" t="t" r="r" b="b"/>
              <a:pathLst>
                <a:path w="9700218" h="1006626">
                  <a:moveTo>
                    <a:pt x="0" y="0"/>
                  </a:moveTo>
                  <a:lnTo>
                    <a:pt x="9700218" y="0"/>
                  </a:lnTo>
                  <a:lnTo>
                    <a:pt x="970021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764" b="-137765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700222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4"/>
                </a:lnSpc>
              </a:pPr>
              <a:r>
                <a:rPr lang="en-US" sz="5103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41304" y="3019882"/>
            <a:ext cx="7481068" cy="1990373"/>
            <a:chOff x="0" y="0"/>
            <a:chExt cx="9974758" cy="26538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74753" cy="2653833"/>
            </a:xfrm>
            <a:custGeom>
              <a:avLst/>
              <a:gdLst/>
              <a:ahLst/>
              <a:cxnLst/>
              <a:rect l="l" t="t" r="r" b="b"/>
              <a:pathLst>
                <a:path w="9974753" h="2653833">
                  <a:moveTo>
                    <a:pt x="0" y="0"/>
                  </a:moveTo>
                  <a:lnTo>
                    <a:pt x="9974753" y="0"/>
                  </a:lnTo>
                  <a:lnTo>
                    <a:pt x="9974753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36" b="-2323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9974758" cy="265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Learn the market.</a:t>
              </a:r>
            </a:p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Practice the workflow.</a:t>
              </a:r>
            </a:p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12F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Measure the result.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1304" y="5353421"/>
            <a:ext cx="7481068" cy="1372676"/>
            <a:chOff x="0" y="0"/>
            <a:chExt cx="9974758" cy="1830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74753" cy="1830230"/>
            </a:xfrm>
            <a:custGeom>
              <a:avLst/>
              <a:gdLst/>
              <a:ahLst/>
              <a:cxnLst/>
              <a:rect l="l" t="t" r="r" b="b"/>
              <a:pathLst>
                <a:path w="9974753" h="1830230">
                  <a:moveTo>
                    <a:pt x="0" y="0"/>
                  </a:moveTo>
                  <a:lnTo>
                    <a:pt x="9974753" y="0"/>
                  </a:lnTo>
                  <a:lnTo>
                    <a:pt x="9974753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193" b="-5619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974758" cy="1839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50677B"/>
                  </a:solidFill>
                  <a:latin typeface="Aptos"/>
                  <a:ea typeface="Aptos"/>
                  <a:cs typeface="Aptos"/>
                  <a:sym typeface="Aptos"/>
                </a:rPr>
                <a:t>A complete virtual trading environment demonstrating full-stack development, API integration, authentication, database management and trading business logic.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1304" y="7481068"/>
            <a:ext cx="1372676" cy="466706"/>
            <a:chOff x="0" y="0"/>
            <a:chExt cx="1830235" cy="6222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30324" cy="622300"/>
            </a:xfrm>
            <a:custGeom>
              <a:avLst/>
              <a:gdLst/>
              <a:ahLst/>
              <a:cxnLst/>
              <a:rect l="l" t="t" r="r" b="b"/>
              <a:pathLst>
                <a:path w="1830324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726565" y="0"/>
                  </a:lnTo>
                  <a:cubicBezTo>
                    <a:pt x="1783842" y="0"/>
                    <a:pt x="1830324" y="46482"/>
                    <a:pt x="1830324" y="103759"/>
                  </a:cubicBezTo>
                  <a:lnTo>
                    <a:pt x="1830324" y="518541"/>
                  </a:lnTo>
                  <a:cubicBezTo>
                    <a:pt x="1830324" y="575818"/>
                    <a:pt x="1783842" y="622300"/>
                    <a:pt x="1726565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441304" y="7494794"/>
            <a:ext cx="1372676" cy="384353"/>
            <a:chOff x="0" y="0"/>
            <a:chExt cx="1830235" cy="5124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30230" cy="512464"/>
            </a:xfrm>
            <a:custGeom>
              <a:avLst/>
              <a:gdLst/>
              <a:ahLst/>
              <a:cxnLst/>
              <a:rect l="l" t="t" r="r" b="b"/>
              <a:pathLst>
                <a:path w="1830230" h="512464">
                  <a:moveTo>
                    <a:pt x="0" y="0"/>
                  </a:moveTo>
                  <a:lnTo>
                    <a:pt x="1830230" y="0"/>
                  </a:lnTo>
                  <a:lnTo>
                    <a:pt x="18302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9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83023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92422" y="7481068"/>
            <a:ext cx="1372676" cy="466706"/>
            <a:chOff x="0" y="0"/>
            <a:chExt cx="1830235" cy="6222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30324" cy="622300"/>
            </a:xfrm>
            <a:custGeom>
              <a:avLst/>
              <a:gdLst/>
              <a:ahLst/>
              <a:cxnLst/>
              <a:rect l="l" t="t" r="r" b="b"/>
              <a:pathLst>
                <a:path w="1830324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726565" y="0"/>
                  </a:lnTo>
                  <a:cubicBezTo>
                    <a:pt x="1783842" y="0"/>
                    <a:pt x="1830324" y="46482"/>
                    <a:pt x="1830324" y="103759"/>
                  </a:cubicBezTo>
                  <a:lnTo>
                    <a:pt x="1830324" y="518541"/>
                  </a:lnTo>
                  <a:cubicBezTo>
                    <a:pt x="1830324" y="575818"/>
                    <a:pt x="1783842" y="622300"/>
                    <a:pt x="1726565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2992422" y="7494794"/>
            <a:ext cx="1372676" cy="384353"/>
            <a:chOff x="0" y="0"/>
            <a:chExt cx="1830235" cy="5124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30230" cy="512464"/>
            </a:xfrm>
            <a:custGeom>
              <a:avLst/>
              <a:gdLst/>
              <a:ahLst/>
              <a:cxnLst/>
              <a:rect l="l" t="t" r="r" b="b"/>
              <a:pathLst>
                <a:path w="1830230" h="512464">
                  <a:moveTo>
                    <a:pt x="0" y="0"/>
                  </a:moveTo>
                  <a:lnTo>
                    <a:pt x="1830230" y="0"/>
                  </a:lnTo>
                  <a:lnTo>
                    <a:pt x="18302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9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83023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5B1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43549" y="7481068"/>
            <a:ext cx="1372676" cy="466706"/>
            <a:chOff x="0" y="0"/>
            <a:chExt cx="1830235" cy="6222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30324" cy="622300"/>
            </a:xfrm>
            <a:custGeom>
              <a:avLst/>
              <a:gdLst/>
              <a:ahLst/>
              <a:cxnLst/>
              <a:rect l="l" t="t" r="r" b="b"/>
              <a:pathLst>
                <a:path w="1830324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726565" y="0"/>
                  </a:lnTo>
                  <a:cubicBezTo>
                    <a:pt x="1783842" y="0"/>
                    <a:pt x="1830324" y="46482"/>
                    <a:pt x="1830324" y="103759"/>
                  </a:cubicBezTo>
                  <a:lnTo>
                    <a:pt x="1830324" y="518541"/>
                  </a:lnTo>
                  <a:cubicBezTo>
                    <a:pt x="1830324" y="575818"/>
                    <a:pt x="1783842" y="622300"/>
                    <a:pt x="1726565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543549" y="7494794"/>
            <a:ext cx="1372676" cy="384353"/>
            <a:chOff x="0" y="0"/>
            <a:chExt cx="1830235" cy="5124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30230" cy="512464"/>
            </a:xfrm>
            <a:custGeom>
              <a:avLst/>
              <a:gdLst/>
              <a:ahLst/>
              <a:cxnLst/>
              <a:rect l="l" t="t" r="r" b="b"/>
              <a:pathLst>
                <a:path w="1830230" h="512464">
                  <a:moveTo>
                    <a:pt x="0" y="0"/>
                  </a:moveTo>
                  <a:lnTo>
                    <a:pt x="1830230" y="0"/>
                  </a:lnTo>
                  <a:lnTo>
                    <a:pt x="183023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9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830235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0919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4666" y="7481068"/>
            <a:ext cx="1304039" cy="466706"/>
            <a:chOff x="0" y="0"/>
            <a:chExt cx="1738719" cy="6222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38757" cy="622300"/>
            </a:xfrm>
            <a:custGeom>
              <a:avLst/>
              <a:gdLst/>
              <a:ahLst/>
              <a:cxnLst/>
              <a:rect l="l" t="t" r="r" b="b"/>
              <a:pathLst>
                <a:path w="1738757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634998" y="0"/>
                  </a:lnTo>
                  <a:cubicBezTo>
                    <a:pt x="1692275" y="0"/>
                    <a:pt x="1738757" y="46482"/>
                    <a:pt x="1738757" y="103759"/>
                  </a:cubicBezTo>
                  <a:lnTo>
                    <a:pt x="1738757" y="518541"/>
                  </a:lnTo>
                  <a:cubicBezTo>
                    <a:pt x="1738757" y="575818"/>
                    <a:pt x="1692275" y="622300"/>
                    <a:pt x="1634998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DF7F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094666" y="7494794"/>
            <a:ext cx="1304039" cy="384353"/>
            <a:chOff x="0" y="0"/>
            <a:chExt cx="1738719" cy="5124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38718" cy="512464"/>
            </a:xfrm>
            <a:custGeom>
              <a:avLst/>
              <a:gdLst/>
              <a:ahLst/>
              <a:cxnLst/>
              <a:rect l="l" t="t" r="r" b="b"/>
              <a:pathLst>
                <a:path w="1738718" h="512464">
                  <a:moveTo>
                    <a:pt x="0" y="0"/>
                  </a:moveTo>
                  <a:lnTo>
                    <a:pt x="1738718" y="0"/>
                  </a:lnTo>
                  <a:lnTo>
                    <a:pt x="173871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1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738719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0A6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2297" cy="10295039"/>
            <a:chOff x="0" y="0"/>
            <a:chExt cx="24403063" cy="13726719"/>
          </a:xfrm>
        </p:grpSpPr>
        <p:sp>
          <p:nvSpPr>
            <p:cNvPr id="3" name="Freeform 3" descr="cc7894c1-dcda-447e-a82c-e24c61e06c4e.png"/>
            <p:cNvSpPr/>
            <p:nvPr/>
          </p:nvSpPr>
          <p:spPr>
            <a:xfrm>
              <a:off x="0" y="0"/>
              <a:ext cx="24403050" cy="13726668"/>
            </a:xfrm>
            <a:custGeom>
              <a:avLst/>
              <a:gdLst/>
              <a:ahLst/>
              <a:cxnLst/>
              <a:rect l="l" t="t" r="r" b="b"/>
              <a:pathLst>
                <a:path w="24403050" h="13726668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8324" y="590245"/>
            <a:ext cx="576520" cy="411804"/>
            <a:chOff x="0" y="0"/>
            <a:chExt cx="768693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697" cy="549069"/>
            </a:xfrm>
            <a:custGeom>
              <a:avLst/>
              <a:gdLst/>
              <a:ahLst/>
              <a:cxnLst/>
              <a:rect l="l" t="t" r="r" b="b"/>
              <a:pathLst>
                <a:path w="768697" h="549069">
                  <a:moveTo>
                    <a:pt x="0" y="0"/>
                  </a:moveTo>
                  <a:lnTo>
                    <a:pt x="768697" y="0"/>
                  </a:lnTo>
                  <a:lnTo>
                    <a:pt x="76869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6" r="-4164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68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6166" y="9677343"/>
            <a:ext cx="960872" cy="274539"/>
            <a:chOff x="0" y="0"/>
            <a:chExt cx="1281163" cy="3660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1161" cy="366046"/>
            </a:xfrm>
            <a:custGeom>
              <a:avLst/>
              <a:gdLst/>
              <a:ahLst/>
              <a:cxnLst/>
              <a:rect l="l" t="t" r="r" b="b"/>
              <a:pathLst>
                <a:path w="1281161" h="366046">
                  <a:moveTo>
                    <a:pt x="0" y="0"/>
                  </a:moveTo>
                  <a:lnTo>
                    <a:pt x="1281161" y="0"/>
                  </a:lnTo>
                  <a:lnTo>
                    <a:pt x="128116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6" b="-1819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28116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50677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TradeLab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308974" y="2626328"/>
            <a:ext cx="6621231" cy="3044819"/>
            <a:chOff x="0" y="0"/>
            <a:chExt cx="4159319" cy="19126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59311" cy="1912679"/>
            </a:xfrm>
            <a:custGeom>
              <a:avLst/>
              <a:gdLst/>
              <a:ahLst/>
              <a:cxnLst/>
              <a:rect l="l" t="t" r="r" b="b"/>
              <a:pathLst>
                <a:path w="4159311" h="1912679">
                  <a:moveTo>
                    <a:pt x="0" y="318769"/>
                  </a:moveTo>
                  <a:cubicBezTo>
                    <a:pt x="0" y="142728"/>
                    <a:pt x="179588" y="0"/>
                    <a:pt x="401094" y="0"/>
                  </a:cubicBezTo>
                  <a:lnTo>
                    <a:pt x="3758217" y="0"/>
                  </a:lnTo>
                  <a:cubicBezTo>
                    <a:pt x="3979723" y="0"/>
                    <a:pt x="4159311" y="142728"/>
                    <a:pt x="4159311" y="318769"/>
                  </a:cubicBezTo>
                  <a:lnTo>
                    <a:pt x="4159311" y="1593910"/>
                  </a:lnTo>
                  <a:cubicBezTo>
                    <a:pt x="4159311" y="1769951"/>
                    <a:pt x="3979723" y="1912679"/>
                    <a:pt x="3758217" y="1912679"/>
                  </a:cubicBezTo>
                  <a:lnTo>
                    <a:pt x="401094" y="1912679"/>
                  </a:lnTo>
                  <a:cubicBezTo>
                    <a:pt x="179588" y="1912679"/>
                    <a:pt x="0" y="1769951"/>
                    <a:pt x="0" y="159391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C4DDE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646739" y="1871358"/>
            <a:ext cx="5490686" cy="754971"/>
            <a:chOff x="0" y="0"/>
            <a:chExt cx="7320915" cy="1006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0" cy="1006626"/>
            </a:xfrm>
            <a:custGeom>
              <a:avLst/>
              <a:gdLst/>
              <a:ahLst/>
              <a:cxnLst/>
              <a:rect l="l" t="t" r="r" b="b"/>
              <a:pathLst>
                <a:path w="7320920" h="1006626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4"/>
                </a:lnSpc>
              </a:pPr>
              <a:r>
                <a:rPr lang="en-US" sz="4503" b="1">
                  <a:solidFill>
                    <a:srgbClr val="187D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76583" y="3283374"/>
            <a:ext cx="8584490" cy="1109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1"/>
              </a:lnSpc>
            </a:pPr>
            <a:r>
              <a:rPr lang="en-US" sz="3186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Name-Harsh Mahavar</a:t>
            </a:r>
          </a:p>
          <a:p>
            <a:pPr algn="ctr">
              <a:lnSpc>
                <a:spcPts val="4461"/>
              </a:lnSpc>
            </a:pPr>
            <a:r>
              <a:rPr lang="en-US" sz="3186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Roll No-24CSB0B25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872</Words>
  <Application>Microsoft Office PowerPoint</Application>
  <PresentationFormat>Custom</PresentationFormat>
  <Paragraphs>278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Aptos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bright, modern FinTech presentation background in 16:9 widescreen format. Use a predominantly white and very light blue color palette with subtle cyan and teal accents. Add elegant abstract financial elements such as faint stock market</dc:title>
  <cp:lastModifiedBy>harshmahavar28@gmail.com</cp:lastModifiedBy>
  <cp:revision>1</cp:revision>
  <dcterms:created xsi:type="dcterms:W3CDTF">2006-08-16T00:00:00Z</dcterms:created>
  <dcterms:modified xsi:type="dcterms:W3CDTF">2026-09-29T10:51:21Z</dcterms:modified>
  <dc:identifier>DAHWfySxsHU</dc:identifier>
</cp:coreProperties>
</file>